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0D2235"/>
          </a:solidFill>
          <a:ln w="12700">
            <a:solidFill>
              <a:srgbClr val="0D22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0"/>
            <a:ext cx="4846320" cy="6858000"/>
          </a:xfrm>
          <a:prstGeom prst="rect">
            <a:avLst/>
          </a:prstGeom>
          <a:solidFill>
            <a:srgbClr val="0A1822"/>
          </a:solidFill>
          <a:ln w="12700">
            <a:solidFill>
              <a:srgbClr val="0A182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0"/>
            <a:ext cx="4846320" cy="73152"/>
          </a:xfrm>
          <a:prstGeom prst="rect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0" y="914400"/>
            <a:ext cx="2926080" cy="2926080"/>
          </a:xfrm>
          <a:prstGeom prst="ellipse">
            <a:avLst/>
          </a:prstGeom>
          <a:solidFill>
            <a:srgbClr val="162838"/>
          </a:solidFill>
          <a:ln w="25400">
            <a:solidFill>
              <a:srgbClr val="C8973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12480" y="1188720"/>
            <a:ext cx="2560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🏛️</a:t>
            </a:r>
            <a:endParaRPr lang="en-US" sz="7000" dirty="0"/>
          </a:p>
        </p:txBody>
      </p:sp>
      <p:sp>
        <p:nvSpPr>
          <p:cNvPr id="7" name="Text 5"/>
          <p:cNvSpPr/>
          <p:nvPr/>
        </p:nvSpPr>
        <p:spPr>
          <a:xfrm>
            <a:off x="7589520" y="4114800"/>
            <a:ext cx="4297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54864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800" b="1" dirty="0">
                <a:solidFill>
                  <a:srgbClr val="E8B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গ্রন্থাগার</a:t>
            </a:r>
            <a:endParaRPr lang="en-US" sz="5800" dirty="0"/>
          </a:p>
        </p:txBody>
      </p:sp>
      <p:sp>
        <p:nvSpPr>
          <p:cNvPr id="9" name="Text 7"/>
          <p:cNvSpPr/>
          <p:nvPr/>
        </p:nvSpPr>
        <p:spPr>
          <a:xfrm>
            <a:off x="457200" y="16002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Management System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57200" y="214884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একটি সম্পূর্ণ ডিজিটাল লাইব্রেরি ব্যবস্থাপনা সমাধান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834640"/>
            <a:ext cx="1463040" cy="960120"/>
          </a:xfrm>
          <a:prstGeom prst="roundRect">
            <a:avLst>
              <a:gd name="adj" fmla="val 11429"/>
            </a:avLst>
          </a:prstGeom>
          <a:solidFill>
            <a:srgbClr val="162838"/>
          </a:solidFill>
          <a:ln w="12700">
            <a:solidFill>
              <a:srgbClr val="16283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2871216"/>
            <a:ext cx="1316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B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১,২৪৮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530352" y="3383280"/>
            <a:ext cx="1316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মোট বই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103120" y="2834640"/>
            <a:ext cx="1463040" cy="960120"/>
          </a:xfrm>
          <a:prstGeom prst="roundRect">
            <a:avLst>
              <a:gd name="adj" fmla="val 11429"/>
            </a:avLst>
          </a:prstGeom>
          <a:solidFill>
            <a:srgbClr val="162838"/>
          </a:solidFill>
          <a:ln w="12700">
            <a:solidFill>
              <a:srgbClr val="16283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176272" y="2871216"/>
            <a:ext cx="1316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B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৩৪২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2176272" y="3383280"/>
            <a:ext cx="1316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শিক্ষার্থী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749040" y="2834640"/>
            <a:ext cx="1463040" cy="960120"/>
          </a:xfrm>
          <a:prstGeom prst="roundRect">
            <a:avLst>
              <a:gd name="adj" fmla="val 11429"/>
            </a:avLst>
          </a:prstGeom>
          <a:solidFill>
            <a:srgbClr val="162838"/>
          </a:solidFill>
          <a:ln w="12700">
            <a:solidFill>
              <a:srgbClr val="16283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822192" y="2871216"/>
            <a:ext cx="1316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B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৯৮৬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3822192" y="3383280"/>
            <a:ext cx="1316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উপলব্ধ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394960" y="2834640"/>
            <a:ext cx="1463040" cy="960120"/>
          </a:xfrm>
          <a:prstGeom prst="roundRect">
            <a:avLst>
              <a:gd name="adj" fmla="val 11429"/>
            </a:avLst>
          </a:prstGeom>
          <a:solidFill>
            <a:srgbClr val="162838"/>
          </a:solidFill>
          <a:ln w="12700">
            <a:solidFill>
              <a:srgbClr val="16283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468112" y="2871216"/>
            <a:ext cx="1316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B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১২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5468112" y="3383280"/>
            <a:ext cx="1316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বিষয়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4114800"/>
            <a:ext cx="6400800" cy="457200"/>
          </a:xfrm>
          <a:prstGeom prst="roundRect">
            <a:avLst>
              <a:gd name="adj" fmla="val 24000"/>
            </a:avLst>
          </a:prstGeom>
          <a:solidFill>
            <a:srgbClr val="162838"/>
          </a:solidFill>
          <a:ln w="12700">
            <a:solidFill>
              <a:srgbClr val="16283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4178808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  •   CSS3   •   JavaScript   •   Font Awesome   •   Google Fonts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4800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প্রজেক্ট উপস্থাপনা  ২০২৫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51389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abusayemnue121/library-management-system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064240" y="644652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12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46304"/>
            <a:ext cx="2377440" cy="347472"/>
          </a:xfrm>
          <a:prstGeom prst="roundRect">
            <a:avLst>
              <a:gd name="adj" fmla="val 31579"/>
            </a:avLst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182880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প্রজেক্ট পরিচিতি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প্রজেক্ট লক্ষ্য ও উদ্দেশ্য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3611880" cy="1965960"/>
          </a:xfrm>
          <a:prstGeom prst="roundRect">
            <a:avLst>
              <a:gd name="adj" fmla="val 5581"/>
            </a:avLst>
          </a:prstGeom>
          <a:solidFill>
            <a:srgbClr val="162838"/>
          </a:solidFill>
          <a:ln w="12700">
            <a:solidFill>
              <a:srgbClr val="16283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463040"/>
            <a:ext cx="3611880" cy="73152"/>
          </a:xfrm>
          <a:prstGeom prst="roundRect">
            <a:avLst>
              <a:gd name="adj" fmla="val 150000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609344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280160" y="166420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বই ব্যবস্থাপনা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66928" y="214884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লাইব্রেরির সমস্ত বই ডিজিটালভাবে যোগ, সম্পাদনা ও মুছুন।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51960" y="1463040"/>
            <a:ext cx="3611880" cy="1965960"/>
          </a:xfrm>
          <a:prstGeom prst="roundRect">
            <a:avLst>
              <a:gd name="adj" fmla="val 5581"/>
            </a:avLst>
          </a:prstGeom>
          <a:solidFill>
            <a:srgbClr val="162838"/>
          </a:solidFill>
          <a:ln w="12700">
            <a:solidFill>
              <a:srgbClr val="16283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51960" y="1463040"/>
            <a:ext cx="3611880" cy="73152"/>
          </a:xfrm>
          <a:prstGeom prst="roundRect">
            <a:avLst>
              <a:gd name="adj" fmla="val 150000"/>
            </a:avLst>
          </a:prstGeom>
          <a:solidFill>
            <a:srgbClr val="215732"/>
          </a:solidFill>
          <a:ln w="12700">
            <a:solidFill>
              <a:srgbClr val="2157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16552" y="1609344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5166360" y="166420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শিক্ষার্থী ব্যবস্থাপনা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453128" y="214884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শিক্ষার্থীদের নিবন্ধন, তথ্য ও বই ইস্যুর ইতিহাস।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138160" y="1463040"/>
            <a:ext cx="3611880" cy="1965960"/>
          </a:xfrm>
          <a:prstGeom prst="roundRect">
            <a:avLst>
              <a:gd name="adj" fmla="val 5581"/>
            </a:avLst>
          </a:prstGeom>
          <a:solidFill>
            <a:srgbClr val="162838"/>
          </a:solidFill>
          <a:ln w="12700">
            <a:solidFill>
              <a:srgbClr val="16283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138160" y="1463040"/>
            <a:ext cx="3611880" cy="73152"/>
          </a:xfrm>
          <a:prstGeom prst="roundRect">
            <a:avLst>
              <a:gd name="adj" fmla="val 15000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02752" y="1609344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9052560" y="166420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ইস্যু ও রিটার্ন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339328" y="214884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বই ইস্যু ও ফেরত প্রক্রিয়া সহজে পরিচালনা করুন।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611880"/>
            <a:ext cx="3611880" cy="1965960"/>
          </a:xfrm>
          <a:prstGeom prst="roundRect">
            <a:avLst>
              <a:gd name="adj" fmla="val 5581"/>
            </a:avLst>
          </a:prstGeom>
          <a:solidFill>
            <a:srgbClr val="162838"/>
          </a:solidFill>
          <a:ln w="12700">
            <a:solidFill>
              <a:srgbClr val="16283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611880"/>
            <a:ext cx="3611880" cy="73152"/>
          </a:xfrm>
          <a:prstGeom prst="roundRect">
            <a:avLst>
              <a:gd name="adj" fmla="val 150000"/>
            </a:avLst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" y="3758184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1280160" y="381304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ফাইন ব্যবস্থাপনা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66928" y="429768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বিলম্বিত ফেরতে স্বয়ংক্রিয় ফাইন গণনা ও আদায়।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251960" y="3611880"/>
            <a:ext cx="3611880" cy="1965960"/>
          </a:xfrm>
          <a:prstGeom prst="roundRect">
            <a:avLst>
              <a:gd name="adj" fmla="val 5581"/>
            </a:avLst>
          </a:prstGeom>
          <a:solidFill>
            <a:srgbClr val="162838"/>
          </a:solidFill>
          <a:ln w="12700">
            <a:solidFill>
              <a:srgbClr val="16283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251960" y="3611880"/>
            <a:ext cx="3611880" cy="73152"/>
          </a:xfrm>
          <a:prstGeom prst="roundRect">
            <a:avLst>
              <a:gd name="adj" fmla="val 150000"/>
            </a:avLst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16552" y="3758184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5166360" y="381304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রিপোর্ট ও চার্ট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453128" y="429768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পরিসংখ্যান ও বিস্তারিত রিপোর্ট চার্টে দেখুন।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138160" y="3611880"/>
            <a:ext cx="3611880" cy="1965960"/>
          </a:xfrm>
          <a:prstGeom prst="roundRect">
            <a:avLst>
              <a:gd name="adj" fmla="val 5581"/>
            </a:avLst>
          </a:prstGeom>
          <a:solidFill>
            <a:srgbClr val="162838"/>
          </a:solidFill>
          <a:ln w="12700">
            <a:solidFill>
              <a:srgbClr val="16283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138160" y="3611880"/>
            <a:ext cx="3611880" cy="73152"/>
          </a:xfrm>
          <a:prstGeom prst="roundRect">
            <a:avLst>
              <a:gd name="adj" fmla="val 150000"/>
            </a:avLst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02752" y="3758184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9052560" y="381304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নোটিফিকেশন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339328" y="429768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রিটার্ন রিমাইন্ডার ও ফাইন সতর্কতা বার্তা।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1064240" y="644652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46304"/>
            <a:ext cx="2377440" cy="347472"/>
          </a:xfrm>
          <a:prstGeom prst="roundRect">
            <a:avLst>
              <a:gd name="adj" fmla="val 31579"/>
            </a:avLst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182880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ব্যবহৃত প্রযুক্তি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কোন কোন প্রযুক্তি ব্যবহার করা হয়েছে?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5623560" cy="1572768"/>
          </a:xfrm>
          <a:prstGeom prst="roundRect">
            <a:avLst>
              <a:gd name="adj" fmla="val 6977"/>
            </a:avLst>
          </a:prstGeom>
          <a:solidFill>
            <a:srgbClr val="162838"/>
          </a:solidFill>
          <a:ln w="12700">
            <a:solidFill>
              <a:srgbClr val="16283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737360"/>
            <a:ext cx="640080" cy="640080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35024" y="160020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35024" y="2002536"/>
            <a:ext cx="44805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ওয়েবপেজের কাঠামো তৈরি। Semantic tags, Forms, Tables ব্যবহার করে সম্পূর্ণ ওয়েবসাইটের স্ট্রাকচার তৈরি।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3136392"/>
            <a:ext cx="5623560" cy="1572768"/>
          </a:xfrm>
          <a:prstGeom prst="roundRect">
            <a:avLst>
              <a:gd name="adj" fmla="val 6977"/>
            </a:avLst>
          </a:prstGeom>
          <a:solidFill>
            <a:srgbClr val="162838"/>
          </a:solidFill>
          <a:ln w="12700">
            <a:solidFill>
              <a:srgbClr val="16283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3456432"/>
            <a:ext cx="640080" cy="640080"/>
          </a:xfrm>
          <a:prstGeom prst="ellipse">
            <a:avLst/>
          </a:prstGeom>
          <a:solidFill>
            <a:srgbClr val="215732"/>
          </a:solidFill>
          <a:ln w="12700">
            <a:solidFill>
              <a:srgbClr val="2157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4564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35024" y="3319272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35024" y="3721608"/>
            <a:ext cx="44805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ওয়েবসাইটের ডিজাইন। CSS Variables, Flexbox, Grid, Animations, Dark/Light Mode, Responsive Design।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4855464"/>
            <a:ext cx="5623560" cy="1572768"/>
          </a:xfrm>
          <a:prstGeom prst="roundRect">
            <a:avLst>
              <a:gd name="adj" fmla="val 6977"/>
            </a:avLst>
          </a:prstGeom>
          <a:solidFill>
            <a:srgbClr val="162838"/>
          </a:solidFill>
          <a:ln w="12700">
            <a:solidFill>
              <a:srgbClr val="16283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5175504"/>
            <a:ext cx="640080" cy="640080"/>
          </a:xfrm>
          <a:prstGeom prst="ellipse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517550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35024" y="5038344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35024" y="5440680"/>
            <a:ext cx="44805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ইন্টারেক্টিভ ফিচার। DOM Manipulation, Dynamic Rendering, Fine Calculator, Real-time Filter।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63640" y="1417320"/>
            <a:ext cx="5623560" cy="1572768"/>
          </a:xfrm>
          <a:prstGeom prst="roundRect">
            <a:avLst>
              <a:gd name="adj" fmla="val 6977"/>
            </a:avLst>
          </a:prstGeom>
          <a:solidFill>
            <a:srgbClr val="162838"/>
          </a:solidFill>
          <a:ln w="12700">
            <a:solidFill>
              <a:srgbClr val="16283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46520" y="1737360"/>
            <a:ext cx="640080" cy="640080"/>
          </a:xfrm>
          <a:prstGeom prst="ellipse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4652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🔤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232904" y="160020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Fonts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232904" y="2002536"/>
            <a:ext cx="44805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Playfair Display ও DM Sans ফন্ট — সুন্দর বাংলা ও ইংরেজি টাইপোগ্রাফি।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263640" y="3136392"/>
            <a:ext cx="5623560" cy="1572768"/>
          </a:xfrm>
          <a:prstGeom prst="roundRect">
            <a:avLst>
              <a:gd name="adj" fmla="val 6977"/>
            </a:avLst>
          </a:prstGeom>
          <a:solidFill>
            <a:srgbClr val="162838"/>
          </a:solidFill>
          <a:ln w="12700">
            <a:solidFill>
              <a:srgbClr val="16283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46520" y="3456432"/>
            <a:ext cx="640080" cy="640080"/>
          </a:xfrm>
          <a:prstGeom prst="ellipse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46520" y="34564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232904" y="3319272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 Awesome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232904" y="3721608"/>
            <a:ext cx="44805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আইকন লাইব্রেরি। মেনু, বাটন ও কার্ডে আইকন — CDN থেকে লোড।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263640" y="4855464"/>
            <a:ext cx="5623560" cy="1572768"/>
          </a:xfrm>
          <a:prstGeom prst="roundRect">
            <a:avLst>
              <a:gd name="adj" fmla="val 6977"/>
            </a:avLst>
          </a:prstGeom>
          <a:solidFill>
            <a:srgbClr val="162838"/>
          </a:solidFill>
          <a:ln w="12700">
            <a:solidFill>
              <a:srgbClr val="16283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446520" y="5175504"/>
            <a:ext cx="640080" cy="64008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46520" y="517550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7232904" y="5038344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Frontend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232904" y="5440680"/>
            <a:ext cx="44805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কোনো Backend বা Framework ছাড়াই। শুধু একটি HTML ফাইল — যেকোনো ব্রাউজারে চলে।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11064240" y="644652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46304"/>
            <a:ext cx="2377440" cy="347472"/>
          </a:xfrm>
          <a:prstGeom prst="roundRect">
            <a:avLst>
              <a:gd name="adj" fmla="val 31579"/>
            </a:avLst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182880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ওয়েবসাইটের পেজসমূহ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মোট ৬টি পেজ — সম্পূর্ণ কার্যকর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3611880" cy="2286000"/>
          </a:xfrm>
          <a:prstGeom prst="roundRect">
            <a:avLst>
              <a:gd name="adj" fmla="val 4800"/>
            </a:avLst>
          </a:prstGeom>
          <a:solidFill>
            <a:srgbClr val="162838"/>
          </a:solidFill>
          <a:ln w="12700">
            <a:solidFill>
              <a:srgbClr val="16283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417320"/>
            <a:ext cx="3611880" cy="475488"/>
          </a:xfrm>
          <a:prstGeom prst="roundRect">
            <a:avLst>
              <a:gd name="adj" fmla="val 23077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490472"/>
            <a:ext cx="3273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 Home Page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039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Hero Section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244144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পরিসংখ্যান কার্ড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284378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Search Bar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" y="3246120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Featured Books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251960" y="1417320"/>
            <a:ext cx="3611880" cy="2286000"/>
          </a:xfrm>
          <a:prstGeom prst="roundRect">
            <a:avLst>
              <a:gd name="adj" fmla="val 4800"/>
            </a:avLst>
          </a:prstGeom>
          <a:solidFill>
            <a:srgbClr val="162838"/>
          </a:solidFill>
          <a:ln w="12700">
            <a:solidFill>
              <a:srgbClr val="16283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51960" y="1417320"/>
            <a:ext cx="3611880" cy="475488"/>
          </a:xfrm>
          <a:prstGeom prst="roundRect">
            <a:avLst>
              <a:gd name="adj" fmla="val 23077"/>
            </a:avLst>
          </a:prstGeom>
          <a:solidFill>
            <a:srgbClr val="215732"/>
          </a:solidFill>
          <a:ln w="12700">
            <a:solidFill>
              <a:srgbClr val="2157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16552" y="1490472"/>
            <a:ext cx="3273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Books Page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434840" y="2039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গ্রিড ভিউ বই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434840" y="244144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নাম/লেখক সার্চ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434840" y="284378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বিষয় ফিল্টার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434840" y="3246120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ইস্যু বাটন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138160" y="1417320"/>
            <a:ext cx="3611880" cy="2286000"/>
          </a:xfrm>
          <a:prstGeom prst="roundRect">
            <a:avLst>
              <a:gd name="adj" fmla="val 4800"/>
            </a:avLst>
          </a:prstGeom>
          <a:solidFill>
            <a:srgbClr val="162838"/>
          </a:solidFill>
          <a:ln w="12700">
            <a:solidFill>
              <a:srgbClr val="16283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138160" y="1417320"/>
            <a:ext cx="3611880" cy="475488"/>
          </a:xfrm>
          <a:prstGeom prst="roundRect">
            <a:avLst>
              <a:gd name="adj" fmla="val 23077"/>
            </a:avLst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02752" y="1490472"/>
            <a:ext cx="3273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👨‍💼  Admin Dashboard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321040" y="2039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Overview চার্ট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321040" y="244144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বই ব্যবস্থাপনা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321040" y="284378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শিক্ষার্থী পরিচালনা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321040" y="3246120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ফাইন ও রিপোর্ট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65760" y="3904488"/>
            <a:ext cx="3611880" cy="2286000"/>
          </a:xfrm>
          <a:prstGeom prst="roundRect">
            <a:avLst>
              <a:gd name="adj" fmla="val 4800"/>
            </a:avLst>
          </a:prstGeom>
          <a:solidFill>
            <a:srgbClr val="162838"/>
          </a:solidFill>
          <a:ln w="12700">
            <a:solidFill>
              <a:srgbClr val="16283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5760" y="3904488"/>
            <a:ext cx="3611880" cy="475488"/>
          </a:xfrm>
          <a:prstGeom prst="roundRect">
            <a:avLst>
              <a:gd name="adj" fmla="val 23077"/>
            </a:avLst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0352" y="3977640"/>
            <a:ext cx="3273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Student Dashboard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8640" y="4526280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ইস্যু করা বই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48640" y="49286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বই ইতিহাস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48640" y="533095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ফাইন বিবরণ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48640" y="573328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প্রোফাইল আপডেট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251960" y="3904488"/>
            <a:ext cx="3611880" cy="2286000"/>
          </a:xfrm>
          <a:prstGeom prst="roundRect">
            <a:avLst>
              <a:gd name="adj" fmla="val 4800"/>
            </a:avLst>
          </a:prstGeom>
          <a:solidFill>
            <a:srgbClr val="162838"/>
          </a:solidFill>
          <a:ln w="12700">
            <a:solidFill>
              <a:srgbClr val="16283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251960" y="3904488"/>
            <a:ext cx="3611880" cy="475488"/>
          </a:xfrm>
          <a:prstGeom prst="roundRect">
            <a:avLst>
              <a:gd name="adj" fmla="val 23077"/>
            </a:avLst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416552" y="3977640"/>
            <a:ext cx="3273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ℹ️  About Page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434840" y="4526280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লাইব্রেরি পরিচিতি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434840" y="49286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৬টি ফিচার কার্ড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434840" y="533095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সিস্টেম বিবরণ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8138160" y="3904488"/>
            <a:ext cx="3611880" cy="2286000"/>
          </a:xfrm>
          <a:prstGeom prst="roundRect">
            <a:avLst>
              <a:gd name="adj" fmla="val 4800"/>
            </a:avLst>
          </a:prstGeom>
          <a:solidFill>
            <a:srgbClr val="162838"/>
          </a:solidFill>
          <a:ln w="12700">
            <a:solidFill>
              <a:srgbClr val="16283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8138160" y="3904488"/>
            <a:ext cx="3611880" cy="475488"/>
          </a:xfrm>
          <a:prstGeom prst="roundRect">
            <a:avLst>
              <a:gd name="adj" fmla="val 23077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302752" y="3977640"/>
            <a:ext cx="3273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📬  Contact Page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8321040" y="4526280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যোগাযোগ ফর্ম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8321040" y="49286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নাম ও ইমেইল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8321040" y="533095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বার্তা পাঠান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11064240" y="644652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46304"/>
            <a:ext cx="2377440" cy="347472"/>
          </a:xfrm>
          <a:prstGeom prst="roundRect">
            <a:avLst>
              <a:gd name="adj" fmla="val 31579"/>
            </a:avLst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182880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Home Page বিস্তারিত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হোম পেজের সমস্ত অংশ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402336" cy="402336"/>
          </a:xfrm>
          <a:prstGeom prst="ellipse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508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1453896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Section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1801368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আকর্ষণীয় ব্যানার — লাইব্রেরির নাম, পরিচিতি ও দুটি অ্যাকশন বাটন।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2532888"/>
            <a:ext cx="402336" cy="402336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5328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2478024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পরিসংখ্যান কার্ড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2825496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মোট বই ১,২৪৮ • শিক্ষার্থী ৩৪২ • উপলব্ধ ৯৮৬ • বিষয় ১২টি।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3557016"/>
            <a:ext cx="402336" cy="402336"/>
          </a:xfrm>
          <a:prstGeom prst="ellipse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5570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3502152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Bar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14400" y="3849624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বইয়ের নাম বা লেখক দিয়ে সার্চ। বিষয়শ্রেণী ড্রপডাউন ফিল্টার সহ।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4581144"/>
            <a:ext cx="402336" cy="402336"/>
          </a:xfrm>
          <a:prstGeom prst="ellipse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45811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4400" y="4526280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Featured Books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14400" y="4873752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৮টি বই কার্ড গ্রিডে — ইমোজি কভার, লেখক, বিষয় ও ইস্যু বাটন।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5760" y="5605272"/>
            <a:ext cx="402336" cy="40233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56052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4400" y="5550408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Menu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14400" y="589788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• বই সমূহ • About • Contact • লগইন বাটন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537960" y="1261872"/>
            <a:ext cx="5257800" cy="5230368"/>
          </a:xfrm>
          <a:prstGeom prst="roundRect">
            <a:avLst>
              <a:gd name="adj" fmla="val 2098"/>
            </a:avLst>
          </a:prstGeom>
          <a:solidFill>
            <a:srgbClr val="0D2235"/>
          </a:solidFill>
          <a:ln w="12700">
            <a:solidFill>
              <a:srgbClr val="0D223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537960" y="1261872"/>
            <a:ext cx="5257800" cy="5029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75120" y="130759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🏛️ গ্রন্থাগার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675120" y="1609344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 বই সমূহ  About  লগইন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537960" y="1764792"/>
            <a:ext cx="5257800" cy="1325880"/>
          </a:xfrm>
          <a:prstGeom prst="rect">
            <a:avLst/>
          </a:prstGeom>
          <a:solidFill>
            <a:srgbClr val="0A1C2E"/>
          </a:solidFill>
          <a:ln w="12700">
            <a:solidFill>
              <a:srgbClr val="0A1C2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75120" y="182880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ডিজিটাল লাইব্রেরি সিস্টেম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675120" y="221284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বই খুঁজুন • ইস্যু করুন • পরিচালনা করুন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675120" y="2514600"/>
            <a:ext cx="1234440" cy="320040"/>
          </a:xfrm>
          <a:prstGeom prst="roundRect">
            <a:avLst>
              <a:gd name="adj" fmla="val 34286"/>
            </a:avLst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11696" y="2551176"/>
            <a:ext cx="11612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ড্যাশবোর্ড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973568" y="2514600"/>
            <a:ext cx="1097280" cy="320040"/>
          </a:xfrm>
          <a:prstGeom prst="roundRect">
            <a:avLst>
              <a:gd name="adj" fmla="val 34286"/>
            </a:avLst>
          </a:prstGeom>
          <a:solidFill>
            <a:srgbClr val="162838"/>
          </a:solidFill>
          <a:ln w="12700">
            <a:solidFill>
              <a:srgbClr val="16283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10144" y="2551176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বই খুঁজুন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675120" y="3017520"/>
            <a:ext cx="1115568" cy="640080"/>
          </a:xfrm>
          <a:prstGeom prst="roundRect">
            <a:avLst>
              <a:gd name="adj" fmla="val 17143"/>
            </a:avLst>
          </a:prstGeom>
          <a:solidFill>
            <a:srgbClr val="162838"/>
          </a:solidFill>
          <a:ln w="12700">
            <a:solidFill>
              <a:srgbClr val="16283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729984" y="30449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B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১,২৪৮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729984" y="332841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বই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7909560" y="3017520"/>
            <a:ext cx="1115568" cy="640080"/>
          </a:xfrm>
          <a:prstGeom prst="roundRect">
            <a:avLst>
              <a:gd name="adj" fmla="val 17143"/>
            </a:avLst>
          </a:prstGeom>
          <a:solidFill>
            <a:srgbClr val="162838"/>
          </a:solidFill>
          <a:ln w="12700">
            <a:solidFill>
              <a:srgbClr val="16283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7964424" y="30449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B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৩৪২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7964424" y="332841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ছাত্র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9144000" y="3017520"/>
            <a:ext cx="1115568" cy="640080"/>
          </a:xfrm>
          <a:prstGeom prst="roundRect">
            <a:avLst>
              <a:gd name="adj" fmla="val 17143"/>
            </a:avLst>
          </a:prstGeom>
          <a:solidFill>
            <a:srgbClr val="162838"/>
          </a:solidFill>
          <a:ln w="12700">
            <a:solidFill>
              <a:srgbClr val="16283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9198864" y="30449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B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৯৮৬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9198864" y="332841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উপলব্ধ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10378440" y="3017520"/>
            <a:ext cx="1115568" cy="640080"/>
          </a:xfrm>
          <a:prstGeom prst="roundRect">
            <a:avLst>
              <a:gd name="adj" fmla="val 17143"/>
            </a:avLst>
          </a:prstGeom>
          <a:solidFill>
            <a:srgbClr val="162838"/>
          </a:solidFill>
          <a:ln w="12700">
            <a:solidFill>
              <a:srgbClr val="16283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10433304" y="30449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B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১২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10433304" y="332841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বিষয়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675120" y="376732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Featured Books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675120" y="4096512"/>
            <a:ext cx="1508760" cy="1719072"/>
          </a:xfrm>
          <a:prstGeom prst="roundRect">
            <a:avLst>
              <a:gd name="adj" fmla="val 7273"/>
            </a:avLst>
          </a:prstGeom>
          <a:solidFill>
            <a:srgbClr val="1C2F42"/>
          </a:solidFill>
          <a:ln w="12700">
            <a:solidFill>
              <a:srgbClr val="1C2F4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6675120" y="4096512"/>
            <a:ext cx="1508760" cy="74980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114032" y="4133088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⚛️</a:t>
            </a:r>
            <a:endParaRPr lang="en-US" sz="2200" dirty="0"/>
          </a:p>
        </p:txBody>
      </p:sp>
      <p:sp>
        <p:nvSpPr>
          <p:cNvPr id="52" name="Text 50"/>
          <p:cNvSpPr/>
          <p:nvPr/>
        </p:nvSpPr>
        <p:spPr>
          <a:xfrm>
            <a:off x="6729984" y="4882896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পদার্থবিজ্ঞান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6858000" y="524865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ইস্যু করুন →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8339328" y="4096512"/>
            <a:ext cx="1508760" cy="1719072"/>
          </a:xfrm>
          <a:prstGeom prst="roundRect">
            <a:avLst>
              <a:gd name="adj" fmla="val 7273"/>
            </a:avLst>
          </a:prstGeom>
          <a:solidFill>
            <a:srgbClr val="1C2F42"/>
          </a:solidFill>
          <a:ln w="12700">
            <a:solidFill>
              <a:srgbClr val="1C2F4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8339328" y="4096512"/>
            <a:ext cx="1508760" cy="749808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778240" y="4133088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</a:t>
            </a:r>
            <a:endParaRPr lang="en-US" sz="2200" dirty="0"/>
          </a:p>
        </p:txBody>
      </p:sp>
      <p:sp>
        <p:nvSpPr>
          <p:cNvPr id="57" name="Text 55"/>
          <p:cNvSpPr/>
          <p:nvPr/>
        </p:nvSpPr>
        <p:spPr>
          <a:xfrm>
            <a:off x="8394192" y="4882896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বাংলা সাহিত্য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8522208" y="524865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ইস্যু করুন →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10003536" y="4096512"/>
            <a:ext cx="1508760" cy="1719072"/>
          </a:xfrm>
          <a:prstGeom prst="roundRect">
            <a:avLst>
              <a:gd name="adj" fmla="val 7273"/>
            </a:avLst>
          </a:prstGeom>
          <a:solidFill>
            <a:srgbClr val="1C2F42"/>
          </a:solidFill>
          <a:ln w="12700">
            <a:solidFill>
              <a:srgbClr val="1C2F4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10003536" y="4096512"/>
            <a:ext cx="1508760" cy="7498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0442448" y="4133088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</a:t>
            </a:r>
            <a:endParaRPr lang="en-US" sz="2200" dirty="0"/>
          </a:p>
        </p:txBody>
      </p:sp>
      <p:sp>
        <p:nvSpPr>
          <p:cNvPr id="62" name="Text 60"/>
          <p:cNvSpPr/>
          <p:nvPr/>
        </p:nvSpPr>
        <p:spPr>
          <a:xfrm>
            <a:off x="10058400" y="4882896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অ্যালগরিদম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10186416" y="524865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ইস্যু করুন →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11064240" y="644652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46304"/>
            <a:ext cx="2377440" cy="347472"/>
          </a:xfrm>
          <a:prstGeom prst="roundRect">
            <a:avLst>
              <a:gd name="adj" fmla="val 31579"/>
            </a:avLst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182880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Admin Dashboard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অ্যাডমিন কী কী করতে পারেন?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389888"/>
            <a:ext cx="5623560" cy="1600200"/>
          </a:xfrm>
          <a:prstGeom prst="roundRect">
            <a:avLst>
              <a:gd name="adj" fmla="val 6857"/>
            </a:avLst>
          </a:prstGeom>
          <a:solidFill>
            <a:srgbClr val="162838"/>
          </a:solidFill>
          <a:ln w="12700">
            <a:solidFill>
              <a:srgbClr val="16283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709928"/>
            <a:ext cx="621792" cy="621792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70992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16736" y="1572768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বই যোগ ও ব্যবস্থাপনা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16736" y="1975104"/>
            <a:ext cx="4526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নতুন বই যোগ করুন। ISBN, লেখক, বিষয়শ্রেণী, র‍্যাক নম্বর সহ তথ্য সংরক্ষণ। Edit ও Delete সুবিধা।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63640" y="1389888"/>
            <a:ext cx="5623560" cy="1600200"/>
          </a:xfrm>
          <a:prstGeom prst="roundRect">
            <a:avLst>
              <a:gd name="adj" fmla="val 6857"/>
            </a:avLst>
          </a:prstGeom>
          <a:solidFill>
            <a:srgbClr val="162838"/>
          </a:solidFill>
          <a:ln w="12700">
            <a:solidFill>
              <a:srgbClr val="16283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46520" y="1709928"/>
            <a:ext cx="621792" cy="621792"/>
          </a:xfrm>
          <a:prstGeom prst="ellipse">
            <a:avLst/>
          </a:prstGeom>
          <a:solidFill>
            <a:srgbClr val="215732"/>
          </a:solidFill>
          <a:ln w="12700">
            <a:solidFill>
              <a:srgbClr val="2157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170992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214616" y="1572768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শিক্ষার্থী পরিচালনা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214616" y="1975104"/>
            <a:ext cx="4526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নতুন শিক্ষার্থী নিবন্ধন। Student ID তৈরি। ধার নেওয়ার ইতিহাস দেখুন।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3127248"/>
            <a:ext cx="5623560" cy="1600200"/>
          </a:xfrm>
          <a:prstGeom prst="roundRect">
            <a:avLst>
              <a:gd name="adj" fmla="val 6857"/>
            </a:avLst>
          </a:prstGeom>
          <a:solidFill>
            <a:srgbClr val="162838"/>
          </a:solidFill>
          <a:ln w="12700">
            <a:solidFill>
              <a:srgbClr val="16283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3447288"/>
            <a:ext cx="621792" cy="621792"/>
          </a:xfrm>
          <a:prstGeom prst="ellipse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44728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16736" y="3310128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ইস্যু ও রিটার্ন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16736" y="3712464"/>
            <a:ext cx="4526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বই ইস্যু করুন — শিক্ষার্থী ও বই নির্বাচন, ফেরতের তারিখ সেট। রিটার্নে ফাইন হিসাব।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63640" y="3127248"/>
            <a:ext cx="5623560" cy="1600200"/>
          </a:xfrm>
          <a:prstGeom prst="roundRect">
            <a:avLst>
              <a:gd name="adj" fmla="val 6857"/>
            </a:avLst>
          </a:prstGeom>
          <a:solidFill>
            <a:srgbClr val="162838"/>
          </a:solidFill>
          <a:ln w="12700">
            <a:solidFill>
              <a:srgbClr val="16283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46520" y="3447288"/>
            <a:ext cx="621792" cy="62179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46520" y="344728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214616" y="3310128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ফাইন ক্যালকুলেটর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214616" y="3712464"/>
            <a:ext cx="4526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বিলম্বিত দিন × প্রতিদিনের রেট = মোট ফাইন। Real-time গণনা ও রেকর্ড সংরক্ষণ।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65760" y="4864608"/>
            <a:ext cx="5623560" cy="1600200"/>
          </a:xfrm>
          <a:prstGeom prst="roundRect">
            <a:avLst>
              <a:gd name="adj" fmla="val 6857"/>
            </a:avLst>
          </a:prstGeom>
          <a:solidFill>
            <a:srgbClr val="162838"/>
          </a:solidFill>
          <a:ln w="12700">
            <a:solidFill>
              <a:srgbClr val="16283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48640" y="5184648"/>
            <a:ext cx="621792" cy="621792"/>
          </a:xfrm>
          <a:prstGeom prst="ellipse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518464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316736" y="5047488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চার্ট ও রিপোর্ট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316736" y="5449824"/>
            <a:ext cx="4526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মাসিক ইস্যু বার চার্ট। বিষয়শ্রেণী ডোনাট চার্ট। সর্বাধিক পঠিত বইয়ের তালিকা।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263640" y="4864608"/>
            <a:ext cx="5623560" cy="1600200"/>
          </a:xfrm>
          <a:prstGeom prst="roundRect">
            <a:avLst>
              <a:gd name="adj" fmla="val 6857"/>
            </a:avLst>
          </a:prstGeom>
          <a:solidFill>
            <a:srgbClr val="162838"/>
          </a:solidFill>
          <a:ln w="12700">
            <a:solidFill>
              <a:srgbClr val="16283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446520" y="5184648"/>
            <a:ext cx="621792" cy="621792"/>
          </a:xfrm>
          <a:prstGeom prst="ellipse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46520" y="518464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7214616" y="5047488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নোটিফিকেশন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214616" y="5449824"/>
            <a:ext cx="4526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বিলম্বিত ফেরতের সতর্কতা। মেয়াদ শেষের অনুস্মারক। নতুন বই ও শিক্ষার্থীর বিজ্ঞপ্তি।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11064240" y="644652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46304"/>
            <a:ext cx="2377440" cy="347472"/>
          </a:xfrm>
          <a:prstGeom prst="roundRect">
            <a:avLst>
              <a:gd name="adj" fmla="val 31579"/>
            </a:avLst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182880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ইস্যু ও রিটার্ন সিস্টেম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বই ইস্যু ও রিটার্নের প্রক্রিয়া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298448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  বই ইস্যু প্রক্রিয়া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8288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9264" y="185623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শিক্ষার্থী নির্বাচন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9264" y="2157984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ড্রপডাউন থেকে শিক্ষার্থীর নাম ও ID বেছে নিন।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66928" y="2286000"/>
            <a:ext cx="54864" cy="658368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92608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69264" y="295351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বই নির্বাচন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9264" y="3255264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উপলব্ধ বইয়ের তালিকা থেকে বই বেছে নিন।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66928" y="3383280"/>
            <a:ext cx="54864" cy="658368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402336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69264" y="405079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ফেরতের তারিখ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69264" y="4352544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picker থেকে ফেরতের তারিখ নির্ধারণ করুন।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66928" y="4480560"/>
            <a:ext cx="54864" cy="658368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51206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5120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69264" y="514807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ইস্যু নিশ্চিত করুন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69264" y="5449824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বাটনে ক্লিক — রেকর্ড সংরক্ষিত ও বই কাউন্ট কমবে।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943600" y="1188720"/>
            <a:ext cx="36576" cy="5440680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26480" y="1298448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  বই রিটার্ন প্রক্রিয়া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126480" y="18288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2648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729984" y="185623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ইস্যু রেকর্ড খুঁজুন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729984" y="2157984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ইস্যু আইডি বা শিক্ষার্থীর নাম দিয়ে খুঁজুন।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327648" y="2286000"/>
            <a:ext cx="54864" cy="658368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126480" y="292608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2648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729984" y="295351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বিলম্বিত দিন দেখুন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729984" y="3255264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ফেরতের তারিখ পার হলে বিলম্বিত দিন দেখাবে।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327648" y="3383280"/>
            <a:ext cx="54864" cy="658368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126480" y="402336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2648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729984" y="405079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ফাইন হিসাব করুন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729984" y="4352544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দিন × রেট = ফাইন — স্বয়ংক্রিয়ভাবে।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327648" y="4480560"/>
            <a:ext cx="54864" cy="658368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126480" y="51206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26480" y="5120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729984" y="514807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রিটার্ন নিশ্চিত করুন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729984" y="5449824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বই কাউন্ট বাড়বে, ফাইন রেকর্ড সংরক্ষিত।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65760" y="6080760"/>
            <a:ext cx="11430000" cy="566928"/>
          </a:xfrm>
          <a:prstGeom prst="roundRect">
            <a:avLst>
              <a:gd name="adj" fmla="val 19355"/>
            </a:avLst>
          </a:prstGeom>
          <a:solidFill>
            <a:srgbClr val="162838"/>
          </a:solidFill>
          <a:ln w="12700">
            <a:solidFill>
              <a:srgbClr val="16283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548640" y="613562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ফাইন ফর্মুলা: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2743200" y="6135624"/>
            <a:ext cx="8961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বিলম্বিত দিন  ×  প্রতিদিন ৳৫  =  মোট ফাইন     উদাহরণ: ৭ দিন × ৳৫ = ৳৩৫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11064240" y="644652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46304"/>
            <a:ext cx="2377440" cy="347472"/>
          </a:xfrm>
          <a:prstGeom prst="roundRect">
            <a:avLst>
              <a:gd name="adj" fmla="val 31579"/>
            </a:avLst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182880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Student Dashboard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শিক্ষার্থী কী কী করতে পারে?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3611880" cy="2212848"/>
          </a:xfrm>
          <a:prstGeom prst="roundRect">
            <a:avLst>
              <a:gd name="adj" fmla="val 4959"/>
            </a:avLst>
          </a:prstGeom>
          <a:solidFill>
            <a:srgbClr val="162838"/>
          </a:solidFill>
          <a:ln w="12700">
            <a:solidFill>
              <a:srgbClr val="16283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30352" y="1600200"/>
            <a:ext cx="603504" cy="60350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60020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80160" y="1645920"/>
            <a:ext cx="2542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313432"/>
            <a:ext cx="32552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বর্তমানে ইস্যু করা বই সংখ্যা, মোট পঠিত বই ও বকেয়া ফাইন এক নজরে দেখুন।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51960" y="1417320"/>
            <a:ext cx="3611880" cy="2212848"/>
          </a:xfrm>
          <a:prstGeom prst="roundRect">
            <a:avLst>
              <a:gd name="adj" fmla="val 4959"/>
            </a:avLst>
          </a:prstGeom>
          <a:solidFill>
            <a:srgbClr val="162838"/>
          </a:solidFill>
          <a:ln w="12700">
            <a:solidFill>
              <a:srgbClr val="16283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16552" y="1600200"/>
            <a:ext cx="603504" cy="603504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16552" y="160020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166360" y="1645920"/>
            <a:ext cx="2542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ইস্যু করা বই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434840" y="2313432"/>
            <a:ext cx="32552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বর্তমানে নেওয়া সব বইয়ের তালিকা। ফেরতের তারিখ ও অবস্থা দেখুন।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138160" y="1417320"/>
            <a:ext cx="3611880" cy="2212848"/>
          </a:xfrm>
          <a:prstGeom prst="roundRect">
            <a:avLst>
              <a:gd name="adj" fmla="val 4959"/>
            </a:avLst>
          </a:prstGeom>
          <a:solidFill>
            <a:srgbClr val="162838"/>
          </a:solidFill>
          <a:ln w="12700">
            <a:solidFill>
              <a:srgbClr val="16283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02752" y="1600200"/>
            <a:ext cx="603504" cy="603504"/>
          </a:xfrm>
          <a:prstGeom prst="ellipse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02752" y="160020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📜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052560" y="1645920"/>
            <a:ext cx="2542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বই ইতিহাস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321040" y="2313432"/>
            <a:ext cx="32552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অতীতে কোন বই পড়েছেন তার সম্পূর্ণ ইতিহাস — ইস্যু ও ফেরতের তারিখ।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3867912"/>
            <a:ext cx="3611880" cy="2212848"/>
          </a:xfrm>
          <a:prstGeom prst="roundRect">
            <a:avLst>
              <a:gd name="adj" fmla="val 4959"/>
            </a:avLst>
          </a:prstGeom>
          <a:solidFill>
            <a:srgbClr val="162838"/>
          </a:solidFill>
          <a:ln w="12700">
            <a:solidFill>
              <a:srgbClr val="16283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30352" y="4050792"/>
            <a:ext cx="603504" cy="603504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" y="405079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💸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280160" y="4096512"/>
            <a:ext cx="2542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ফাইন বিবরণ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8640" y="4764024"/>
            <a:ext cx="32552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বর্তমান বকেয়া ফাইন ও পুরনো ফাইনের ইতিহাস। পরিশোধিত ও মুলতুবি আলাদা।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251960" y="3867912"/>
            <a:ext cx="3611880" cy="2212848"/>
          </a:xfrm>
          <a:prstGeom prst="roundRect">
            <a:avLst>
              <a:gd name="adj" fmla="val 4959"/>
            </a:avLst>
          </a:prstGeom>
          <a:solidFill>
            <a:srgbClr val="162838"/>
          </a:solidFill>
          <a:ln w="12700">
            <a:solidFill>
              <a:srgbClr val="16283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416552" y="4050792"/>
            <a:ext cx="603504" cy="603504"/>
          </a:xfrm>
          <a:prstGeom prst="ellipse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16552" y="405079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166360" y="4096512"/>
            <a:ext cx="2542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নোটিফিকেশন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434840" y="4764024"/>
            <a:ext cx="32552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ফেরতের অনুস্মারক, নতুন বই যোগের বিজ্ঞপ্তি ও ফাইন সতর্কতা বার্তা।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138160" y="3867912"/>
            <a:ext cx="3611880" cy="2212848"/>
          </a:xfrm>
          <a:prstGeom prst="roundRect">
            <a:avLst>
              <a:gd name="adj" fmla="val 4959"/>
            </a:avLst>
          </a:prstGeom>
          <a:solidFill>
            <a:srgbClr val="162838"/>
          </a:solidFill>
          <a:ln w="12700">
            <a:solidFill>
              <a:srgbClr val="16283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302752" y="4050792"/>
            <a:ext cx="603504" cy="603504"/>
          </a:xfrm>
          <a:prstGeom prst="ellipse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02752" y="405079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9052560" y="4096512"/>
            <a:ext cx="2542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প্রোফাইল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321040" y="4764024"/>
            <a:ext cx="32552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নিজের নাম, ইমেইল, ফোন ও শ্রেণীর তথ্য আপডেট করুন। পাসওয়ার্ড পরিবর্তন।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11064240" y="644652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46304"/>
            <a:ext cx="2377440" cy="347472"/>
          </a:xfrm>
          <a:prstGeom prst="roundRect">
            <a:avLst>
              <a:gd name="adj" fmla="val 31579"/>
            </a:avLst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182880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ডেটাবেজ ডিজাইন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ডেটাবেজ টেবিলসমূহ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1887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(বর্তমানে JavaScript Array — ভবিষ্যতে MySQL ব্যাকেন্ড যোগ করা যাবে)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572768"/>
            <a:ext cx="3566160" cy="457200"/>
          </a:xfrm>
          <a:prstGeom prst="roundRect">
            <a:avLst>
              <a:gd name="adj" fmla="val 24000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6459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users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029968"/>
            <a:ext cx="3566160" cy="384048"/>
          </a:xfrm>
          <a:prstGeom prst="rect">
            <a:avLst/>
          </a:prstGeom>
          <a:solidFill>
            <a:srgbClr val="162838"/>
          </a:solidFill>
          <a:ln w="12700">
            <a:solidFill>
              <a:srgbClr val="1628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20848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286000" y="20848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PK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5760" y="2414016"/>
            <a:ext cx="3566160" cy="384048"/>
          </a:xfrm>
          <a:prstGeom prst="rect">
            <a:avLst/>
          </a:prstGeom>
          <a:solidFill>
            <a:srgbClr val="1C2F42"/>
          </a:solidFill>
          <a:ln w="12700">
            <a:solidFill>
              <a:srgbClr val="1C2F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2468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286000" y="24688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2798064"/>
            <a:ext cx="3566160" cy="384048"/>
          </a:xfrm>
          <a:prstGeom prst="rect">
            <a:avLst/>
          </a:prstGeom>
          <a:solidFill>
            <a:srgbClr val="162838"/>
          </a:solidFill>
          <a:ln w="12700">
            <a:solidFill>
              <a:srgbClr val="1628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28529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286000" y="28529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3182112"/>
            <a:ext cx="3566160" cy="384048"/>
          </a:xfrm>
          <a:prstGeom prst="rect">
            <a:avLst/>
          </a:prstGeom>
          <a:solidFill>
            <a:srgbClr val="1C2F42"/>
          </a:solidFill>
          <a:ln w="12700">
            <a:solidFill>
              <a:srgbClr val="1C2F4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" y="32369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286000" y="323697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3566160"/>
            <a:ext cx="3566160" cy="384048"/>
          </a:xfrm>
          <a:prstGeom prst="rect">
            <a:avLst/>
          </a:prstGeom>
          <a:solidFill>
            <a:srgbClr val="162838"/>
          </a:solidFill>
          <a:ln w="12700">
            <a:solidFill>
              <a:srgbClr val="16283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352" y="3621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286000" y="362102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65760" y="1572768"/>
            <a:ext cx="3566160" cy="2377440"/>
          </a:xfrm>
          <a:prstGeom prst="roundRect">
            <a:avLst>
              <a:gd name="adj" fmla="val 4615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1984248"/>
            <a:ext cx="3566160" cy="1965960"/>
          </a:xfrm>
          <a:prstGeom prst="rect">
            <a:avLst/>
          </a:prstGeom>
          <a:solidFill>
            <a:srgbClr val="162838"/>
          </a:solidFill>
          <a:ln w="12700">
            <a:solidFill>
              <a:srgbClr val="16283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2029968"/>
            <a:ext cx="3566160" cy="384048"/>
          </a:xfrm>
          <a:prstGeom prst="rect">
            <a:avLst/>
          </a:prstGeom>
          <a:solidFill>
            <a:srgbClr val="162838"/>
          </a:solidFill>
          <a:ln w="12700">
            <a:solidFill>
              <a:srgbClr val="16283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0352" y="20848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286000" y="20848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PK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65760" y="2414016"/>
            <a:ext cx="3566160" cy="384048"/>
          </a:xfrm>
          <a:prstGeom prst="rect">
            <a:avLst/>
          </a:prstGeom>
          <a:solidFill>
            <a:srgbClr val="1C2F42"/>
          </a:solidFill>
          <a:ln w="12700">
            <a:solidFill>
              <a:srgbClr val="1C2F4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0352" y="2468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286000" y="24688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65760" y="2798064"/>
            <a:ext cx="3566160" cy="384048"/>
          </a:xfrm>
          <a:prstGeom prst="rect">
            <a:avLst/>
          </a:prstGeom>
          <a:solidFill>
            <a:srgbClr val="162838"/>
          </a:solidFill>
          <a:ln w="12700">
            <a:solidFill>
              <a:srgbClr val="16283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0352" y="28529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286000" y="28529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65760" y="3182112"/>
            <a:ext cx="3566160" cy="384048"/>
          </a:xfrm>
          <a:prstGeom prst="rect">
            <a:avLst/>
          </a:prstGeom>
          <a:solidFill>
            <a:srgbClr val="1C2F42"/>
          </a:solidFill>
          <a:ln w="12700">
            <a:solidFill>
              <a:srgbClr val="1C2F4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0352" y="32369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286000" y="323697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65760" y="3566160"/>
            <a:ext cx="3566160" cy="384048"/>
          </a:xfrm>
          <a:prstGeom prst="rect">
            <a:avLst/>
          </a:prstGeom>
          <a:solidFill>
            <a:srgbClr val="162838"/>
          </a:solidFill>
          <a:ln w="12700">
            <a:solidFill>
              <a:srgbClr val="16283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0352" y="3621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286000" y="362102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251960" y="1572768"/>
            <a:ext cx="3566160" cy="457200"/>
          </a:xfrm>
          <a:prstGeom prst="roundRect">
            <a:avLst>
              <a:gd name="adj" fmla="val 24000"/>
            </a:avLst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416552" y="16459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books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4251960" y="2029968"/>
            <a:ext cx="3566160" cy="384048"/>
          </a:xfrm>
          <a:prstGeom prst="rect">
            <a:avLst/>
          </a:prstGeom>
          <a:solidFill>
            <a:srgbClr val="162838"/>
          </a:solidFill>
          <a:ln w="12700">
            <a:solidFill>
              <a:srgbClr val="16283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416552" y="20848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172200" y="20848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PK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251960" y="2414016"/>
            <a:ext cx="3566160" cy="384048"/>
          </a:xfrm>
          <a:prstGeom prst="rect">
            <a:avLst/>
          </a:prstGeom>
          <a:solidFill>
            <a:srgbClr val="1C2F42"/>
          </a:solidFill>
          <a:ln w="12700">
            <a:solidFill>
              <a:srgbClr val="1C2F4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416552" y="2468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172200" y="24688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251960" y="2798064"/>
            <a:ext cx="3566160" cy="384048"/>
          </a:xfrm>
          <a:prstGeom prst="rect">
            <a:avLst/>
          </a:prstGeom>
          <a:solidFill>
            <a:srgbClr val="162838"/>
          </a:solidFill>
          <a:ln w="12700">
            <a:solidFill>
              <a:srgbClr val="16283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416552" y="28529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172200" y="28529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251960" y="3182112"/>
            <a:ext cx="3566160" cy="384048"/>
          </a:xfrm>
          <a:prstGeom prst="rect">
            <a:avLst/>
          </a:prstGeom>
          <a:solidFill>
            <a:srgbClr val="1C2F42"/>
          </a:solidFill>
          <a:ln w="12700">
            <a:solidFill>
              <a:srgbClr val="1C2F4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416552" y="32369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isbn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172200" y="323697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4251960" y="3566160"/>
            <a:ext cx="3566160" cy="384048"/>
          </a:xfrm>
          <a:prstGeom prst="rect">
            <a:avLst/>
          </a:prstGeom>
          <a:solidFill>
            <a:srgbClr val="162838"/>
          </a:solidFill>
          <a:ln w="12700">
            <a:solidFill>
              <a:srgbClr val="16283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416552" y="3621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6172200" y="362102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4251960" y="3950208"/>
            <a:ext cx="3566160" cy="384048"/>
          </a:xfrm>
          <a:prstGeom prst="rect">
            <a:avLst/>
          </a:prstGeom>
          <a:solidFill>
            <a:srgbClr val="1C2F42"/>
          </a:solidFill>
          <a:ln w="12700">
            <a:solidFill>
              <a:srgbClr val="1C2F42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416552" y="4005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6172200" y="40050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4251960" y="1572768"/>
            <a:ext cx="3566160" cy="2761488"/>
          </a:xfrm>
          <a:prstGeom prst="roundRect">
            <a:avLst>
              <a:gd name="adj" fmla="val 3974"/>
            </a:avLst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251960" y="1984248"/>
            <a:ext cx="3566160" cy="2350008"/>
          </a:xfrm>
          <a:prstGeom prst="rect">
            <a:avLst/>
          </a:prstGeom>
          <a:solidFill>
            <a:srgbClr val="162838"/>
          </a:solidFill>
          <a:ln w="12700">
            <a:solidFill>
              <a:srgbClr val="162838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251960" y="2029968"/>
            <a:ext cx="3566160" cy="384048"/>
          </a:xfrm>
          <a:prstGeom prst="rect">
            <a:avLst/>
          </a:prstGeom>
          <a:solidFill>
            <a:srgbClr val="162838"/>
          </a:solidFill>
          <a:ln w="12700">
            <a:solidFill>
              <a:srgbClr val="16283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416552" y="20848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6172200" y="20848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PK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4251960" y="2414016"/>
            <a:ext cx="3566160" cy="384048"/>
          </a:xfrm>
          <a:prstGeom prst="rect">
            <a:avLst/>
          </a:prstGeom>
          <a:solidFill>
            <a:srgbClr val="1C2F42"/>
          </a:solidFill>
          <a:ln w="12700">
            <a:solidFill>
              <a:srgbClr val="1C2F42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416552" y="2468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6172200" y="24688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4251960" y="2798064"/>
            <a:ext cx="3566160" cy="384048"/>
          </a:xfrm>
          <a:prstGeom prst="rect">
            <a:avLst/>
          </a:prstGeom>
          <a:solidFill>
            <a:srgbClr val="162838"/>
          </a:solidFill>
          <a:ln w="12700">
            <a:solidFill>
              <a:srgbClr val="162838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416552" y="28529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6172200" y="28529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4251960" y="3182112"/>
            <a:ext cx="3566160" cy="384048"/>
          </a:xfrm>
          <a:prstGeom prst="rect">
            <a:avLst/>
          </a:prstGeom>
          <a:solidFill>
            <a:srgbClr val="1C2F42"/>
          </a:solidFill>
          <a:ln w="12700">
            <a:solidFill>
              <a:srgbClr val="1C2F42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416552" y="32369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isbn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6172200" y="323697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4251960" y="3566160"/>
            <a:ext cx="3566160" cy="384048"/>
          </a:xfrm>
          <a:prstGeom prst="rect">
            <a:avLst/>
          </a:prstGeom>
          <a:solidFill>
            <a:srgbClr val="162838"/>
          </a:solidFill>
          <a:ln w="12700">
            <a:solidFill>
              <a:srgbClr val="162838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416552" y="3621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6172200" y="362102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4251960" y="3950208"/>
            <a:ext cx="3566160" cy="384048"/>
          </a:xfrm>
          <a:prstGeom prst="rect">
            <a:avLst/>
          </a:prstGeom>
          <a:solidFill>
            <a:srgbClr val="1C2F42"/>
          </a:solidFill>
          <a:ln w="12700">
            <a:solidFill>
              <a:srgbClr val="1C2F42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416552" y="4005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6172200" y="40050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950" dirty="0"/>
          </a:p>
        </p:txBody>
      </p:sp>
      <p:sp>
        <p:nvSpPr>
          <p:cNvPr id="80" name="Shape 78"/>
          <p:cNvSpPr/>
          <p:nvPr/>
        </p:nvSpPr>
        <p:spPr>
          <a:xfrm>
            <a:off x="8138160" y="1572768"/>
            <a:ext cx="3566160" cy="457200"/>
          </a:xfrm>
          <a:prstGeom prst="roundRect">
            <a:avLst>
              <a:gd name="adj" fmla="val 24000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8302752" y="16459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issued_books</a:t>
            </a:r>
            <a:endParaRPr lang="en-US" sz="1300" dirty="0"/>
          </a:p>
        </p:txBody>
      </p:sp>
      <p:sp>
        <p:nvSpPr>
          <p:cNvPr id="82" name="Shape 80"/>
          <p:cNvSpPr/>
          <p:nvPr/>
        </p:nvSpPr>
        <p:spPr>
          <a:xfrm>
            <a:off x="8138160" y="2029968"/>
            <a:ext cx="3566160" cy="384048"/>
          </a:xfrm>
          <a:prstGeom prst="rect">
            <a:avLst/>
          </a:prstGeom>
          <a:solidFill>
            <a:srgbClr val="162838"/>
          </a:solidFill>
          <a:ln w="12700">
            <a:solidFill>
              <a:srgbClr val="162838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8302752" y="20848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000" dirty="0"/>
          </a:p>
        </p:txBody>
      </p:sp>
      <p:sp>
        <p:nvSpPr>
          <p:cNvPr id="84" name="Text 82"/>
          <p:cNvSpPr/>
          <p:nvPr/>
        </p:nvSpPr>
        <p:spPr>
          <a:xfrm>
            <a:off x="10058400" y="20848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PK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8138160" y="2414016"/>
            <a:ext cx="3566160" cy="384048"/>
          </a:xfrm>
          <a:prstGeom prst="rect">
            <a:avLst/>
          </a:prstGeom>
          <a:solidFill>
            <a:srgbClr val="1C2F42"/>
          </a:solidFill>
          <a:ln w="12700">
            <a:solidFill>
              <a:srgbClr val="1C2F42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8302752" y="2468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</a:t>
            </a:r>
            <a:endParaRPr lang="en-US" sz="1000" dirty="0"/>
          </a:p>
        </p:txBody>
      </p:sp>
      <p:sp>
        <p:nvSpPr>
          <p:cNvPr id="87" name="Text 85"/>
          <p:cNvSpPr/>
          <p:nvPr/>
        </p:nvSpPr>
        <p:spPr>
          <a:xfrm>
            <a:off x="10058400" y="24688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FK→users</a:t>
            </a:r>
            <a:endParaRPr lang="en-US" sz="950" dirty="0"/>
          </a:p>
        </p:txBody>
      </p:sp>
      <p:sp>
        <p:nvSpPr>
          <p:cNvPr id="88" name="Shape 86"/>
          <p:cNvSpPr/>
          <p:nvPr/>
        </p:nvSpPr>
        <p:spPr>
          <a:xfrm>
            <a:off x="8138160" y="2798064"/>
            <a:ext cx="3566160" cy="384048"/>
          </a:xfrm>
          <a:prstGeom prst="rect">
            <a:avLst/>
          </a:prstGeom>
          <a:solidFill>
            <a:srgbClr val="162838"/>
          </a:solidFill>
          <a:ln w="12700">
            <a:solidFill>
              <a:srgbClr val="162838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8302752" y="28529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book_id</a:t>
            </a:r>
            <a:endParaRPr lang="en-US" sz="1000" dirty="0"/>
          </a:p>
        </p:txBody>
      </p:sp>
      <p:sp>
        <p:nvSpPr>
          <p:cNvPr id="90" name="Text 88"/>
          <p:cNvSpPr/>
          <p:nvPr/>
        </p:nvSpPr>
        <p:spPr>
          <a:xfrm>
            <a:off x="10058400" y="28529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FK→books</a:t>
            </a:r>
            <a:endParaRPr lang="en-US" sz="950" dirty="0"/>
          </a:p>
        </p:txBody>
      </p:sp>
      <p:sp>
        <p:nvSpPr>
          <p:cNvPr id="91" name="Shape 89"/>
          <p:cNvSpPr/>
          <p:nvPr/>
        </p:nvSpPr>
        <p:spPr>
          <a:xfrm>
            <a:off x="8138160" y="3182112"/>
            <a:ext cx="3566160" cy="384048"/>
          </a:xfrm>
          <a:prstGeom prst="rect">
            <a:avLst/>
          </a:prstGeom>
          <a:solidFill>
            <a:srgbClr val="1C2F42"/>
          </a:solidFill>
          <a:ln w="12700">
            <a:solidFill>
              <a:srgbClr val="1C2F42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8302752" y="32369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issue_date</a:t>
            </a:r>
            <a:endParaRPr lang="en-US" sz="1000" dirty="0"/>
          </a:p>
        </p:txBody>
      </p:sp>
      <p:sp>
        <p:nvSpPr>
          <p:cNvPr id="93" name="Text 91"/>
          <p:cNvSpPr/>
          <p:nvPr/>
        </p:nvSpPr>
        <p:spPr>
          <a:xfrm>
            <a:off x="10058400" y="323697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950" dirty="0"/>
          </a:p>
        </p:txBody>
      </p:sp>
      <p:sp>
        <p:nvSpPr>
          <p:cNvPr id="94" name="Shape 92"/>
          <p:cNvSpPr/>
          <p:nvPr/>
        </p:nvSpPr>
        <p:spPr>
          <a:xfrm>
            <a:off x="8138160" y="3566160"/>
            <a:ext cx="3566160" cy="384048"/>
          </a:xfrm>
          <a:prstGeom prst="rect">
            <a:avLst/>
          </a:prstGeom>
          <a:solidFill>
            <a:srgbClr val="162838"/>
          </a:solidFill>
          <a:ln w="12700">
            <a:solidFill>
              <a:srgbClr val="162838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8302752" y="3621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return_date</a:t>
            </a:r>
            <a:endParaRPr lang="en-US" sz="1000" dirty="0"/>
          </a:p>
        </p:txBody>
      </p:sp>
      <p:sp>
        <p:nvSpPr>
          <p:cNvPr id="96" name="Text 94"/>
          <p:cNvSpPr/>
          <p:nvPr/>
        </p:nvSpPr>
        <p:spPr>
          <a:xfrm>
            <a:off x="10058400" y="362102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950" dirty="0"/>
          </a:p>
        </p:txBody>
      </p:sp>
      <p:sp>
        <p:nvSpPr>
          <p:cNvPr id="97" name="Shape 95"/>
          <p:cNvSpPr/>
          <p:nvPr/>
        </p:nvSpPr>
        <p:spPr>
          <a:xfrm>
            <a:off x="8138160" y="3950208"/>
            <a:ext cx="3566160" cy="384048"/>
          </a:xfrm>
          <a:prstGeom prst="rect">
            <a:avLst/>
          </a:prstGeom>
          <a:solidFill>
            <a:srgbClr val="1C2F42"/>
          </a:solidFill>
          <a:ln w="12700">
            <a:solidFill>
              <a:srgbClr val="1C2F42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8302752" y="4005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000" dirty="0"/>
          </a:p>
        </p:txBody>
      </p:sp>
      <p:sp>
        <p:nvSpPr>
          <p:cNvPr id="99" name="Text 97"/>
          <p:cNvSpPr/>
          <p:nvPr/>
        </p:nvSpPr>
        <p:spPr>
          <a:xfrm>
            <a:off x="10058400" y="40050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</a:t>
            </a:r>
            <a:endParaRPr lang="en-US" sz="950" dirty="0"/>
          </a:p>
        </p:txBody>
      </p:sp>
      <p:sp>
        <p:nvSpPr>
          <p:cNvPr id="100" name="Shape 98"/>
          <p:cNvSpPr/>
          <p:nvPr/>
        </p:nvSpPr>
        <p:spPr>
          <a:xfrm>
            <a:off x="8138160" y="1572768"/>
            <a:ext cx="3566160" cy="2761488"/>
          </a:xfrm>
          <a:prstGeom prst="roundRect">
            <a:avLst>
              <a:gd name="adj" fmla="val 3974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8138160" y="1984248"/>
            <a:ext cx="3566160" cy="2350008"/>
          </a:xfrm>
          <a:prstGeom prst="rect">
            <a:avLst/>
          </a:prstGeom>
          <a:solidFill>
            <a:srgbClr val="162838"/>
          </a:solidFill>
          <a:ln w="12700">
            <a:solidFill>
              <a:srgbClr val="162838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8138160" y="2029968"/>
            <a:ext cx="3566160" cy="384048"/>
          </a:xfrm>
          <a:prstGeom prst="rect">
            <a:avLst/>
          </a:prstGeom>
          <a:solidFill>
            <a:srgbClr val="162838"/>
          </a:solidFill>
          <a:ln w="12700">
            <a:solidFill>
              <a:srgbClr val="162838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8302752" y="20848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000" dirty="0"/>
          </a:p>
        </p:txBody>
      </p:sp>
      <p:sp>
        <p:nvSpPr>
          <p:cNvPr id="104" name="Text 102"/>
          <p:cNvSpPr/>
          <p:nvPr/>
        </p:nvSpPr>
        <p:spPr>
          <a:xfrm>
            <a:off x="10058400" y="20848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PK</a:t>
            </a:r>
            <a:endParaRPr lang="en-US" sz="950" dirty="0"/>
          </a:p>
        </p:txBody>
      </p:sp>
      <p:sp>
        <p:nvSpPr>
          <p:cNvPr id="105" name="Shape 103"/>
          <p:cNvSpPr/>
          <p:nvPr/>
        </p:nvSpPr>
        <p:spPr>
          <a:xfrm>
            <a:off x="8138160" y="2414016"/>
            <a:ext cx="3566160" cy="384048"/>
          </a:xfrm>
          <a:prstGeom prst="rect">
            <a:avLst/>
          </a:prstGeom>
          <a:solidFill>
            <a:srgbClr val="1C2F42"/>
          </a:solidFill>
          <a:ln w="12700">
            <a:solidFill>
              <a:srgbClr val="1C2F42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8302752" y="2468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</a:t>
            </a:r>
            <a:endParaRPr lang="en-US" sz="1000" dirty="0"/>
          </a:p>
        </p:txBody>
      </p:sp>
      <p:sp>
        <p:nvSpPr>
          <p:cNvPr id="107" name="Text 105"/>
          <p:cNvSpPr/>
          <p:nvPr/>
        </p:nvSpPr>
        <p:spPr>
          <a:xfrm>
            <a:off x="10058400" y="24688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FK→users</a:t>
            </a:r>
            <a:endParaRPr lang="en-US" sz="950" dirty="0"/>
          </a:p>
        </p:txBody>
      </p:sp>
      <p:sp>
        <p:nvSpPr>
          <p:cNvPr id="108" name="Shape 106"/>
          <p:cNvSpPr/>
          <p:nvPr/>
        </p:nvSpPr>
        <p:spPr>
          <a:xfrm>
            <a:off x="8138160" y="2798064"/>
            <a:ext cx="3566160" cy="384048"/>
          </a:xfrm>
          <a:prstGeom prst="rect">
            <a:avLst/>
          </a:prstGeom>
          <a:solidFill>
            <a:srgbClr val="162838"/>
          </a:solidFill>
          <a:ln w="12700">
            <a:solidFill>
              <a:srgbClr val="162838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8302752" y="28529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book_id</a:t>
            </a:r>
            <a:endParaRPr lang="en-US" sz="1000" dirty="0"/>
          </a:p>
        </p:txBody>
      </p:sp>
      <p:sp>
        <p:nvSpPr>
          <p:cNvPr id="110" name="Text 108"/>
          <p:cNvSpPr/>
          <p:nvPr/>
        </p:nvSpPr>
        <p:spPr>
          <a:xfrm>
            <a:off x="10058400" y="28529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FK→books</a:t>
            </a:r>
            <a:endParaRPr lang="en-US" sz="950" dirty="0"/>
          </a:p>
        </p:txBody>
      </p:sp>
      <p:sp>
        <p:nvSpPr>
          <p:cNvPr id="111" name="Shape 109"/>
          <p:cNvSpPr/>
          <p:nvPr/>
        </p:nvSpPr>
        <p:spPr>
          <a:xfrm>
            <a:off x="8138160" y="3182112"/>
            <a:ext cx="3566160" cy="384048"/>
          </a:xfrm>
          <a:prstGeom prst="rect">
            <a:avLst/>
          </a:prstGeom>
          <a:solidFill>
            <a:srgbClr val="1C2F42"/>
          </a:solidFill>
          <a:ln w="12700">
            <a:solidFill>
              <a:srgbClr val="1C2F42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8302752" y="32369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issue_date</a:t>
            </a:r>
            <a:endParaRPr lang="en-US" sz="1000" dirty="0"/>
          </a:p>
        </p:txBody>
      </p:sp>
      <p:sp>
        <p:nvSpPr>
          <p:cNvPr id="113" name="Text 111"/>
          <p:cNvSpPr/>
          <p:nvPr/>
        </p:nvSpPr>
        <p:spPr>
          <a:xfrm>
            <a:off x="10058400" y="323697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950" dirty="0"/>
          </a:p>
        </p:txBody>
      </p:sp>
      <p:sp>
        <p:nvSpPr>
          <p:cNvPr id="114" name="Shape 112"/>
          <p:cNvSpPr/>
          <p:nvPr/>
        </p:nvSpPr>
        <p:spPr>
          <a:xfrm>
            <a:off x="8138160" y="3566160"/>
            <a:ext cx="3566160" cy="384048"/>
          </a:xfrm>
          <a:prstGeom prst="rect">
            <a:avLst/>
          </a:prstGeom>
          <a:solidFill>
            <a:srgbClr val="162838"/>
          </a:solidFill>
          <a:ln w="12700">
            <a:solidFill>
              <a:srgbClr val="162838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8302752" y="3621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return_date</a:t>
            </a:r>
            <a:endParaRPr lang="en-US" sz="1000" dirty="0"/>
          </a:p>
        </p:txBody>
      </p:sp>
      <p:sp>
        <p:nvSpPr>
          <p:cNvPr id="116" name="Text 114"/>
          <p:cNvSpPr/>
          <p:nvPr/>
        </p:nvSpPr>
        <p:spPr>
          <a:xfrm>
            <a:off x="10058400" y="362102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950" dirty="0"/>
          </a:p>
        </p:txBody>
      </p:sp>
      <p:sp>
        <p:nvSpPr>
          <p:cNvPr id="117" name="Shape 115"/>
          <p:cNvSpPr/>
          <p:nvPr/>
        </p:nvSpPr>
        <p:spPr>
          <a:xfrm>
            <a:off x="8138160" y="3950208"/>
            <a:ext cx="3566160" cy="384048"/>
          </a:xfrm>
          <a:prstGeom prst="rect">
            <a:avLst/>
          </a:prstGeom>
          <a:solidFill>
            <a:srgbClr val="1C2F42"/>
          </a:solidFill>
          <a:ln w="12700">
            <a:solidFill>
              <a:srgbClr val="1C2F42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8302752" y="4005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000" dirty="0"/>
          </a:p>
        </p:txBody>
      </p:sp>
      <p:sp>
        <p:nvSpPr>
          <p:cNvPr id="119" name="Text 117"/>
          <p:cNvSpPr/>
          <p:nvPr/>
        </p:nvSpPr>
        <p:spPr>
          <a:xfrm>
            <a:off x="10058400" y="40050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</a:t>
            </a:r>
            <a:endParaRPr lang="en-US" sz="950" dirty="0"/>
          </a:p>
        </p:txBody>
      </p:sp>
      <p:sp>
        <p:nvSpPr>
          <p:cNvPr id="120" name="Shape 118"/>
          <p:cNvSpPr/>
          <p:nvPr/>
        </p:nvSpPr>
        <p:spPr>
          <a:xfrm>
            <a:off x="365760" y="3977640"/>
            <a:ext cx="3566160" cy="457200"/>
          </a:xfrm>
          <a:prstGeom prst="roundRect">
            <a:avLst>
              <a:gd name="adj" fmla="val 2400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530352" y="405079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fines</a:t>
            </a:r>
            <a:endParaRPr lang="en-US" sz="1300" dirty="0"/>
          </a:p>
        </p:txBody>
      </p:sp>
      <p:sp>
        <p:nvSpPr>
          <p:cNvPr id="122" name="Shape 120"/>
          <p:cNvSpPr/>
          <p:nvPr/>
        </p:nvSpPr>
        <p:spPr>
          <a:xfrm>
            <a:off x="365760" y="4434840"/>
            <a:ext cx="3566160" cy="384048"/>
          </a:xfrm>
          <a:prstGeom prst="rect">
            <a:avLst/>
          </a:prstGeom>
          <a:solidFill>
            <a:srgbClr val="162838"/>
          </a:solidFill>
          <a:ln w="12700">
            <a:solidFill>
              <a:srgbClr val="162838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530352" y="44897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000" dirty="0"/>
          </a:p>
        </p:txBody>
      </p:sp>
      <p:sp>
        <p:nvSpPr>
          <p:cNvPr id="124" name="Text 122"/>
          <p:cNvSpPr/>
          <p:nvPr/>
        </p:nvSpPr>
        <p:spPr>
          <a:xfrm>
            <a:off x="2286000" y="44897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PK</a:t>
            </a:r>
            <a:endParaRPr lang="en-US" sz="950" dirty="0"/>
          </a:p>
        </p:txBody>
      </p:sp>
      <p:sp>
        <p:nvSpPr>
          <p:cNvPr id="125" name="Shape 123"/>
          <p:cNvSpPr/>
          <p:nvPr/>
        </p:nvSpPr>
        <p:spPr>
          <a:xfrm>
            <a:off x="365760" y="4818888"/>
            <a:ext cx="3566160" cy="384048"/>
          </a:xfrm>
          <a:prstGeom prst="rect">
            <a:avLst/>
          </a:prstGeom>
          <a:solidFill>
            <a:srgbClr val="1C2F42"/>
          </a:solidFill>
          <a:ln w="12700">
            <a:solidFill>
              <a:srgbClr val="1C2F42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530352" y="48737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</a:t>
            </a:r>
            <a:endParaRPr lang="en-US" sz="1000" dirty="0"/>
          </a:p>
        </p:txBody>
      </p:sp>
      <p:sp>
        <p:nvSpPr>
          <p:cNvPr id="127" name="Text 125"/>
          <p:cNvSpPr/>
          <p:nvPr/>
        </p:nvSpPr>
        <p:spPr>
          <a:xfrm>
            <a:off x="2286000" y="48737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FK→users</a:t>
            </a:r>
            <a:endParaRPr lang="en-US" sz="950" dirty="0"/>
          </a:p>
        </p:txBody>
      </p:sp>
      <p:sp>
        <p:nvSpPr>
          <p:cNvPr id="128" name="Shape 126"/>
          <p:cNvSpPr/>
          <p:nvPr/>
        </p:nvSpPr>
        <p:spPr>
          <a:xfrm>
            <a:off x="365760" y="5202936"/>
            <a:ext cx="3566160" cy="384048"/>
          </a:xfrm>
          <a:prstGeom prst="rect">
            <a:avLst/>
          </a:prstGeom>
          <a:solidFill>
            <a:srgbClr val="162838"/>
          </a:solidFill>
          <a:ln w="12700">
            <a:solidFill>
              <a:srgbClr val="162838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530352" y="5257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</a:t>
            </a:r>
            <a:endParaRPr lang="en-US" sz="1000" dirty="0"/>
          </a:p>
        </p:txBody>
      </p:sp>
      <p:sp>
        <p:nvSpPr>
          <p:cNvPr id="130" name="Text 128"/>
          <p:cNvSpPr/>
          <p:nvPr/>
        </p:nvSpPr>
        <p:spPr>
          <a:xfrm>
            <a:off x="2286000" y="52578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DECIMAL</a:t>
            </a:r>
            <a:endParaRPr lang="en-US" sz="950" dirty="0"/>
          </a:p>
        </p:txBody>
      </p:sp>
      <p:sp>
        <p:nvSpPr>
          <p:cNvPr id="131" name="Shape 129"/>
          <p:cNvSpPr/>
          <p:nvPr/>
        </p:nvSpPr>
        <p:spPr>
          <a:xfrm>
            <a:off x="365760" y="5586984"/>
            <a:ext cx="3566160" cy="384048"/>
          </a:xfrm>
          <a:prstGeom prst="rect">
            <a:avLst/>
          </a:prstGeom>
          <a:solidFill>
            <a:srgbClr val="1C2F42"/>
          </a:solidFill>
          <a:ln w="12700">
            <a:solidFill>
              <a:srgbClr val="1C2F42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530352" y="56418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</a:t>
            </a:r>
            <a:endParaRPr lang="en-US" sz="1000" dirty="0"/>
          </a:p>
        </p:txBody>
      </p:sp>
      <p:sp>
        <p:nvSpPr>
          <p:cNvPr id="133" name="Text 131"/>
          <p:cNvSpPr/>
          <p:nvPr/>
        </p:nvSpPr>
        <p:spPr>
          <a:xfrm>
            <a:off x="2286000" y="56418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950" dirty="0"/>
          </a:p>
        </p:txBody>
      </p:sp>
      <p:sp>
        <p:nvSpPr>
          <p:cNvPr id="134" name="Shape 132"/>
          <p:cNvSpPr/>
          <p:nvPr/>
        </p:nvSpPr>
        <p:spPr>
          <a:xfrm>
            <a:off x="365760" y="5971032"/>
            <a:ext cx="3566160" cy="384048"/>
          </a:xfrm>
          <a:prstGeom prst="rect">
            <a:avLst/>
          </a:prstGeom>
          <a:solidFill>
            <a:srgbClr val="162838"/>
          </a:solidFill>
          <a:ln w="12700">
            <a:solidFill>
              <a:srgbClr val="162838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530352" y="60258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</a:t>
            </a:r>
            <a:endParaRPr lang="en-US" sz="1000" dirty="0"/>
          </a:p>
        </p:txBody>
      </p:sp>
      <p:sp>
        <p:nvSpPr>
          <p:cNvPr id="136" name="Text 134"/>
          <p:cNvSpPr/>
          <p:nvPr/>
        </p:nvSpPr>
        <p:spPr>
          <a:xfrm>
            <a:off x="2286000" y="60258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</a:t>
            </a:r>
            <a:endParaRPr lang="en-US" sz="950" dirty="0"/>
          </a:p>
        </p:txBody>
      </p:sp>
      <p:sp>
        <p:nvSpPr>
          <p:cNvPr id="137" name="Shape 135"/>
          <p:cNvSpPr/>
          <p:nvPr/>
        </p:nvSpPr>
        <p:spPr>
          <a:xfrm>
            <a:off x="365760" y="3977640"/>
            <a:ext cx="3566160" cy="2377440"/>
          </a:xfrm>
          <a:prstGeom prst="roundRect">
            <a:avLst>
              <a:gd name="adj" fmla="val 4615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365760" y="4389120"/>
            <a:ext cx="3566160" cy="1965960"/>
          </a:xfrm>
          <a:prstGeom prst="rect">
            <a:avLst/>
          </a:prstGeom>
          <a:solidFill>
            <a:srgbClr val="162838"/>
          </a:solidFill>
          <a:ln w="12700">
            <a:solidFill>
              <a:srgbClr val="162838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365760" y="4434840"/>
            <a:ext cx="3566160" cy="384048"/>
          </a:xfrm>
          <a:prstGeom prst="rect">
            <a:avLst/>
          </a:prstGeom>
          <a:solidFill>
            <a:srgbClr val="162838"/>
          </a:solidFill>
          <a:ln w="12700">
            <a:solidFill>
              <a:srgbClr val="162838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530352" y="44897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000" dirty="0"/>
          </a:p>
        </p:txBody>
      </p:sp>
      <p:sp>
        <p:nvSpPr>
          <p:cNvPr id="141" name="Text 139"/>
          <p:cNvSpPr/>
          <p:nvPr/>
        </p:nvSpPr>
        <p:spPr>
          <a:xfrm>
            <a:off x="2286000" y="44897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PK</a:t>
            </a:r>
            <a:endParaRPr lang="en-US" sz="950" dirty="0"/>
          </a:p>
        </p:txBody>
      </p:sp>
      <p:sp>
        <p:nvSpPr>
          <p:cNvPr id="142" name="Shape 140"/>
          <p:cNvSpPr/>
          <p:nvPr/>
        </p:nvSpPr>
        <p:spPr>
          <a:xfrm>
            <a:off x="365760" y="4818888"/>
            <a:ext cx="3566160" cy="384048"/>
          </a:xfrm>
          <a:prstGeom prst="rect">
            <a:avLst/>
          </a:prstGeom>
          <a:solidFill>
            <a:srgbClr val="1C2F42"/>
          </a:solidFill>
          <a:ln w="12700">
            <a:solidFill>
              <a:srgbClr val="1C2F42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530352" y="48737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</a:t>
            </a:r>
            <a:endParaRPr lang="en-US" sz="1000" dirty="0"/>
          </a:p>
        </p:txBody>
      </p:sp>
      <p:sp>
        <p:nvSpPr>
          <p:cNvPr id="144" name="Text 142"/>
          <p:cNvSpPr/>
          <p:nvPr/>
        </p:nvSpPr>
        <p:spPr>
          <a:xfrm>
            <a:off x="2286000" y="48737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FK→users</a:t>
            </a:r>
            <a:endParaRPr lang="en-US" sz="950" dirty="0"/>
          </a:p>
        </p:txBody>
      </p:sp>
      <p:sp>
        <p:nvSpPr>
          <p:cNvPr id="145" name="Shape 143"/>
          <p:cNvSpPr/>
          <p:nvPr/>
        </p:nvSpPr>
        <p:spPr>
          <a:xfrm>
            <a:off x="365760" y="5202936"/>
            <a:ext cx="3566160" cy="384048"/>
          </a:xfrm>
          <a:prstGeom prst="rect">
            <a:avLst/>
          </a:prstGeom>
          <a:solidFill>
            <a:srgbClr val="162838"/>
          </a:solidFill>
          <a:ln w="12700">
            <a:solidFill>
              <a:srgbClr val="162838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530352" y="5257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</a:t>
            </a:r>
            <a:endParaRPr lang="en-US" sz="1000" dirty="0"/>
          </a:p>
        </p:txBody>
      </p:sp>
      <p:sp>
        <p:nvSpPr>
          <p:cNvPr id="147" name="Text 145"/>
          <p:cNvSpPr/>
          <p:nvPr/>
        </p:nvSpPr>
        <p:spPr>
          <a:xfrm>
            <a:off x="2286000" y="52578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DECIMAL</a:t>
            </a:r>
            <a:endParaRPr lang="en-US" sz="950" dirty="0"/>
          </a:p>
        </p:txBody>
      </p:sp>
      <p:sp>
        <p:nvSpPr>
          <p:cNvPr id="148" name="Shape 146"/>
          <p:cNvSpPr/>
          <p:nvPr/>
        </p:nvSpPr>
        <p:spPr>
          <a:xfrm>
            <a:off x="365760" y="5586984"/>
            <a:ext cx="3566160" cy="384048"/>
          </a:xfrm>
          <a:prstGeom prst="rect">
            <a:avLst/>
          </a:prstGeom>
          <a:solidFill>
            <a:srgbClr val="1C2F42"/>
          </a:solidFill>
          <a:ln w="12700">
            <a:solidFill>
              <a:srgbClr val="1C2F42"/>
            </a:solidFill>
            <a:prstDash val="solid"/>
          </a:ln>
        </p:spPr>
      </p:sp>
      <p:sp>
        <p:nvSpPr>
          <p:cNvPr id="149" name="Text 147"/>
          <p:cNvSpPr/>
          <p:nvPr/>
        </p:nvSpPr>
        <p:spPr>
          <a:xfrm>
            <a:off x="530352" y="56418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</a:t>
            </a:r>
            <a:endParaRPr lang="en-US" sz="1000" dirty="0"/>
          </a:p>
        </p:txBody>
      </p:sp>
      <p:sp>
        <p:nvSpPr>
          <p:cNvPr id="150" name="Text 148"/>
          <p:cNvSpPr/>
          <p:nvPr/>
        </p:nvSpPr>
        <p:spPr>
          <a:xfrm>
            <a:off x="2286000" y="56418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950" dirty="0"/>
          </a:p>
        </p:txBody>
      </p:sp>
      <p:sp>
        <p:nvSpPr>
          <p:cNvPr id="151" name="Shape 149"/>
          <p:cNvSpPr/>
          <p:nvPr/>
        </p:nvSpPr>
        <p:spPr>
          <a:xfrm>
            <a:off x="365760" y="5971032"/>
            <a:ext cx="3566160" cy="384048"/>
          </a:xfrm>
          <a:prstGeom prst="rect">
            <a:avLst/>
          </a:prstGeom>
          <a:solidFill>
            <a:srgbClr val="162838"/>
          </a:solidFill>
          <a:ln w="12700">
            <a:solidFill>
              <a:srgbClr val="162838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530352" y="60258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</a:t>
            </a:r>
            <a:endParaRPr lang="en-US" sz="1000" dirty="0"/>
          </a:p>
        </p:txBody>
      </p:sp>
      <p:sp>
        <p:nvSpPr>
          <p:cNvPr id="153" name="Text 151"/>
          <p:cNvSpPr/>
          <p:nvPr/>
        </p:nvSpPr>
        <p:spPr>
          <a:xfrm>
            <a:off x="2286000" y="60258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</a:t>
            </a:r>
            <a:endParaRPr lang="en-US" sz="950" dirty="0"/>
          </a:p>
        </p:txBody>
      </p:sp>
      <p:sp>
        <p:nvSpPr>
          <p:cNvPr id="154" name="Shape 152"/>
          <p:cNvSpPr/>
          <p:nvPr/>
        </p:nvSpPr>
        <p:spPr>
          <a:xfrm>
            <a:off x="4251960" y="3977640"/>
            <a:ext cx="3566160" cy="457200"/>
          </a:xfrm>
          <a:prstGeom prst="roundRect">
            <a:avLst>
              <a:gd name="adj" fmla="val 24000"/>
            </a:avLst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55" name="Text 153"/>
          <p:cNvSpPr/>
          <p:nvPr/>
        </p:nvSpPr>
        <p:spPr>
          <a:xfrm>
            <a:off x="4416552" y="405079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categories</a:t>
            </a:r>
            <a:endParaRPr lang="en-US" sz="1300" dirty="0"/>
          </a:p>
        </p:txBody>
      </p:sp>
      <p:sp>
        <p:nvSpPr>
          <p:cNvPr id="156" name="Shape 154"/>
          <p:cNvSpPr/>
          <p:nvPr/>
        </p:nvSpPr>
        <p:spPr>
          <a:xfrm>
            <a:off x="4251960" y="4434840"/>
            <a:ext cx="3566160" cy="384048"/>
          </a:xfrm>
          <a:prstGeom prst="rect">
            <a:avLst/>
          </a:prstGeom>
          <a:solidFill>
            <a:srgbClr val="162838"/>
          </a:solidFill>
          <a:ln w="12700">
            <a:solidFill>
              <a:srgbClr val="162838"/>
            </a:solidFill>
            <a:prstDash val="solid"/>
          </a:ln>
        </p:spPr>
      </p:sp>
      <p:sp>
        <p:nvSpPr>
          <p:cNvPr id="157" name="Text 155"/>
          <p:cNvSpPr/>
          <p:nvPr/>
        </p:nvSpPr>
        <p:spPr>
          <a:xfrm>
            <a:off x="4416552" y="44897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000" dirty="0"/>
          </a:p>
        </p:txBody>
      </p:sp>
      <p:sp>
        <p:nvSpPr>
          <p:cNvPr id="158" name="Text 156"/>
          <p:cNvSpPr/>
          <p:nvPr/>
        </p:nvSpPr>
        <p:spPr>
          <a:xfrm>
            <a:off x="6172200" y="44897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PK</a:t>
            </a:r>
            <a:endParaRPr lang="en-US" sz="950" dirty="0"/>
          </a:p>
        </p:txBody>
      </p:sp>
      <p:sp>
        <p:nvSpPr>
          <p:cNvPr id="159" name="Shape 157"/>
          <p:cNvSpPr/>
          <p:nvPr/>
        </p:nvSpPr>
        <p:spPr>
          <a:xfrm>
            <a:off x="4251960" y="4818888"/>
            <a:ext cx="3566160" cy="384048"/>
          </a:xfrm>
          <a:prstGeom prst="rect">
            <a:avLst/>
          </a:prstGeom>
          <a:solidFill>
            <a:srgbClr val="1C2F42"/>
          </a:solidFill>
          <a:ln w="12700">
            <a:solidFill>
              <a:srgbClr val="1C2F42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4416552" y="48737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category_name</a:t>
            </a:r>
            <a:endParaRPr lang="en-US" sz="1000" dirty="0"/>
          </a:p>
        </p:txBody>
      </p:sp>
      <p:sp>
        <p:nvSpPr>
          <p:cNvPr id="161" name="Text 159"/>
          <p:cNvSpPr/>
          <p:nvPr/>
        </p:nvSpPr>
        <p:spPr>
          <a:xfrm>
            <a:off x="6172200" y="48737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</a:t>
            </a:r>
            <a:endParaRPr lang="en-US" sz="950" dirty="0"/>
          </a:p>
        </p:txBody>
      </p:sp>
      <p:sp>
        <p:nvSpPr>
          <p:cNvPr id="162" name="Shape 160"/>
          <p:cNvSpPr/>
          <p:nvPr/>
        </p:nvSpPr>
        <p:spPr>
          <a:xfrm>
            <a:off x="4251960" y="5202936"/>
            <a:ext cx="3566160" cy="384048"/>
          </a:xfrm>
          <a:prstGeom prst="rect">
            <a:avLst/>
          </a:prstGeom>
          <a:solidFill>
            <a:srgbClr val="162838"/>
          </a:solidFill>
          <a:ln w="12700">
            <a:solidFill>
              <a:srgbClr val="162838"/>
            </a:solidFill>
            <a:prstDash val="solid"/>
          </a:ln>
        </p:spPr>
      </p:sp>
      <p:sp>
        <p:nvSpPr>
          <p:cNvPr id="163" name="Text 161"/>
          <p:cNvSpPr/>
          <p:nvPr/>
        </p:nvSpPr>
        <p:spPr>
          <a:xfrm>
            <a:off x="4416552" y="5257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000" dirty="0"/>
          </a:p>
        </p:txBody>
      </p:sp>
      <p:sp>
        <p:nvSpPr>
          <p:cNvPr id="164" name="Text 162"/>
          <p:cNvSpPr/>
          <p:nvPr/>
        </p:nvSpPr>
        <p:spPr>
          <a:xfrm>
            <a:off x="6172200" y="52578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950" dirty="0"/>
          </a:p>
        </p:txBody>
      </p:sp>
      <p:sp>
        <p:nvSpPr>
          <p:cNvPr id="165" name="Shape 163"/>
          <p:cNvSpPr/>
          <p:nvPr/>
        </p:nvSpPr>
        <p:spPr>
          <a:xfrm>
            <a:off x="4251960" y="3977640"/>
            <a:ext cx="3566160" cy="1609344"/>
          </a:xfrm>
          <a:prstGeom prst="roundRect">
            <a:avLst>
              <a:gd name="adj" fmla="val 6818"/>
            </a:avLst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4251960" y="4389120"/>
            <a:ext cx="3566160" cy="1197864"/>
          </a:xfrm>
          <a:prstGeom prst="rect">
            <a:avLst/>
          </a:prstGeom>
          <a:solidFill>
            <a:srgbClr val="162838"/>
          </a:solidFill>
          <a:ln w="12700">
            <a:solidFill>
              <a:srgbClr val="162838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4251960" y="4434840"/>
            <a:ext cx="3566160" cy="384048"/>
          </a:xfrm>
          <a:prstGeom prst="rect">
            <a:avLst/>
          </a:prstGeom>
          <a:solidFill>
            <a:srgbClr val="162838"/>
          </a:solidFill>
          <a:ln w="12700">
            <a:solidFill>
              <a:srgbClr val="162838"/>
            </a:solidFill>
            <a:prstDash val="solid"/>
          </a:ln>
        </p:spPr>
      </p:sp>
      <p:sp>
        <p:nvSpPr>
          <p:cNvPr id="168" name="Text 166"/>
          <p:cNvSpPr/>
          <p:nvPr/>
        </p:nvSpPr>
        <p:spPr>
          <a:xfrm>
            <a:off x="4416552" y="44897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000" dirty="0"/>
          </a:p>
        </p:txBody>
      </p:sp>
      <p:sp>
        <p:nvSpPr>
          <p:cNvPr id="169" name="Text 167"/>
          <p:cNvSpPr/>
          <p:nvPr/>
        </p:nvSpPr>
        <p:spPr>
          <a:xfrm>
            <a:off x="6172200" y="44897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PK</a:t>
            </a:r>
            <a:endParaRPr lang="en-US" sz="950" dirty="0"/>
          </a:p>
        </p:txBody>
      </p:sp>
      <p:sp>
        <p:nvSpPr>
          <p:cNvPr id="170" name="Shape 168"/>
          <p:cNvSpPr/>
          <p:nvPr/>
        </p:nvSpPr>
        <p:spPr>
          <a:xfrm>
            <a:off x="4251960" y="4818888"/>
            <a:ext cx="3566160" cy="384048"/>
          </a:xfrm>
          <a:prstGeom prst="rect">
            <a:avLst/>
          </a:prstGeom>
          <a:solidFill>
            <a:srgbClr val="1C2F42"/>
          </a:solidFill>
          <a:ln w="12700">
            <a:solidFill>
              <a:srgbClr val="1C2F42"/>
            </a:solidFill>
            <a:prstDash val="solid"/>
          </a:ln>
        </p:spPr>
      </p:sp>
      <p:sp>
        <p:nvSpPr>
          <p:cNvPr id="171" name="Text 169"/>
          <p:cNvSpPr/>
          <p:nvPr/>
        </p:nvSpPr>
        <p:spPr>
          <a:xfrm>
            <a:off x="4416552" y="48737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category_name</a:t>
            </a:r>
            <a:endParaRPr lang="en-US" sz="1000" dirty="0"/>
          </a:p>
        </p:txBody>
      </p:sp>
      <p:sp>
        <p:nvSpPr>
          <p:cNvPr id="172" name="Text 170"/>
          <p:cNvSpPr/>
          <p:nvPr/>
        </p:nvSpPr>
        <p:spPr>
          <a:xfrm>
            <a:off x="6172200" y="48737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</a:t>
            </a:r>
            <a:endParaRPr lang="en-US" sz="950" dirty="0"/>
          </a:p>
        </p:txBody>
      </p:sp>
      <p:sp>
        <p:nvSpPr>
          <p:cNvPr id="173" name="Shape 171"/>
          <p:cNvSpPr/>
          <p:nvPr/>
        </p:nvSpPr>
        <p:spPr>
          <a:xfrm>
            <a:off x="4251960" y="5202936"/>
            <a:ext cx="3566160" cy="384048"/>
          </a:xfrm>
          <a:prstGeom prst="rect">
            <a:avLst/>
          </a:prstGeom>
          <a:solidFill>
            <a:srgbClr val="162838"/>
          </a:solidFill>
          <a:ln w="12700">
            <a:solidFill>
              <a:srgbClr val="162838"/>
            </a:solidFill>
            <a:prstDash val="solid"/>
          </a:ln>
        </p:spPr>
      </p:sp>
      <p:sp>
        <p:nvSpPr>
          <p:cNvPr id="174" name="Text 172"/>
          <p:cNvSpPr/>
          <p:nvPr/>
        </p:nvSpPr>
        <p:spPr>
          <a:xfrm>
            <a:off x="4416552" y="5257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000" dirty="0"/>
          </a:p>
        </p:txBody>
      </p:sp>
      <p:sp>
        <p:nvSpPr>
          <p:cNvPr id="175" name="Text 173"/>
          <p:cNvSpPr/>
          <p:nvPr/>
        </p:nvSpPr>
        <p:spPr>
          <a:xfrm>
            <a:off x="6172200" y="52578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950" dirty="0"/>
          </a:p>
        </p:txBody>
      </p:sp>
      <p:sp>
        <p:nvSpPr>
          <p:cNvPr id="176" name="Text 174"/>
          <p:cNvSpPr/>
          <p:nvPr/>
        </p:nvSpPr>
        <p:spPr>
          <a:xfrm>
            <a:off x="11064240" y="644652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46304"/>
            <a:ext cx="2377440" cy="347472"/>
          </a:xfrm>
          <a:prstGeom prst="roundRect">
            <a:avLst>
              <a:gd name="adj" fmla="val 31579"/>
            </a:avLst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182880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কিভাবে কাজ করে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সিস্টেমের কার্যপ্রবাহ (User Flow)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389888"/>
            <a:ext cx="3611880" cy="2212848"/>
          </a:xfrm>
          <a:prstGeom prst="roundRect">
            <a:avLst>
              <a:gd name="adj" fmla="val 4959"/>
            </a:avLst>
          </a:prstGeom>
          <a:solidFill>
            <a:srgbClr val="162838"/>
          </a:solidFill>
          <a:ln w="12700">
            <a:solidFill>
              <a:srgbClr val="16283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572768"/>
            <a:ext cx="566928" cy="566928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5727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61872" y="1618488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ওয়েবসাইট খুলুন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66928" y="228600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ফাইল ব্রাউজারে ওপেন হয়। Home Page দেখা যায় — বই, পরিসংখ্যান ও সার্চ বার।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005072" y="2212848"/>
            <a:ext cx="2194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251960" y="1389888"/>
            <a:ext cx="3611880" cy="2212848"/>
          </a:xfrm>
          <a:prstGeom prst="roundRect">
            <a:avLst>
              <a:gd name="adj" fmla="val 4959"/>
            </a:avLst>
          </a:prstGeom>
          <a:solidFill>
            <a:srgbClr val="162838"/>
          </a:solidFill>
          <a:ln w="12700">
            <a:solidFill>
              <a:srgbClr val="16283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34840" y="1572768"/>
            <a:ext cx="566928" cy="566928"/>
          </a:xfrm>
          <a:prstGeom prst="ellipse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34840" y="15727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148072" y="1618488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লগইন করুন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453128" y="228600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বা Student — দুটি আলাদা লগইন। Modal popup — ইমেইল ও পাসওয়ার্ড দিন।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891272" y="2212848"/>
            <a:ext cx="2194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138160" y="1389888"/>
            <a:ext cx="3611880" cy="2212848"/>
          </a:xfrm>
          <a:prstGeom prst="roundRect">
            <a:avLst>
              <a:gd name="adj" fmla="val 4959"/>
            </a:avLst>
          </a:prstGeom>
          <a:solidFill>
            <a:srgbClr val="162838"/>
          </a:solidFill>
          <a:ln w="12700">
            <a:solidFill>
              <a:srgbClr val="16283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321040" y="1572768"/>
            <a:ext cx="566928" cy="56692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21040" y="15727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034272" y="1618488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ড্যাশবোর্ড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339328" y="228600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লগইনের পর সংশ্লিষ্ট ড্যাশবোর্ড দেখা যায়। Admin ও Student আলাদা ভিউ।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65760" y="3813048"/>
            <a:ext cx="3611880" cy="2212848"/>
          </a:xfrm>
          <a:prstGeom prst="roundRect">
            <a:avLst>
              <a:gd name="adj" fmla="val 4959"/>
            </a:avLst>
          </a:prstGeom>
          <a:solidFill>
            <a:srgbClr val="162838"/>
          </a:solidFill>
          <a:ln w="12700">
            <a:solidFill>
              <a:srgbClr val="16283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8640" y="3995928"/>
            <a:ext cx="566928" cy="566928"/>
          </a:xfrm>
          <a:prstGeom prst="ellipse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3995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261872" y="4041648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বই পরিচালনা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66928" y="470916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বই যোগ, সম্পাদনা ও মুছতে পারেন। Students বই খুঁজতে ও ইস্যু করতে পারেন।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005072" y="4636008"/>
            <a:ext cx="2194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4251960" y="3813048"/>
            <a:ext cx="3611880" cy="2212848"/>
          </a:xfrm>
          <a:prstGeom prst="roundRect">
            <a:avLst>
              <a:gd name="adj" fmla="val 4959"/>
            </a:avLst>
          </a:prstGeom>
          <a:solidFill>
            <a:srgbClr val="162838"/>
          </a:solidFill>
          <a:ln w="12700">
            <a:solidFill>
              <a:srgbClr val="16283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434840" y="3995928"/>
            <a:ext cx="566928" cy="566928"/>
          </a:xfrm>
          <a:prstGeom prst="ellipse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34840" y="3995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148072" y="4041648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ইস্যু/রিটার্ন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453128" y="470916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বই ইস্যু করুন — তারিখ সেট করুন। ফেরতে ফাইন হিসাব হয়। রেকর্ড আপডেট হয়।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7891272" y="4636008"/>
            <a:ext cx="2194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8138160" y="3813048"/>
            <a:ext cx="3611880" cy="2212848"/>
          </a:xfrm>
          <a:prstGeom prst="roundRect">
            <a:avLst>
              <a:gd name="adj" fmla="val 4959"/>
            </a:avLst>
          </a:prstGeom>
          <a:solidFill>
            <a:srgbClr val="162838"/>
          </a:solidFill>
          <a:ln w="12700">
            <a:solidFill>
              <a:srgbClr val="16283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321040" y="3995928"/>
            <a:ext cx="566928" cy="566928"/>
          </a:xfrm>
          <a:prstGeom prst="ellipse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321040" y="3995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9034272" y="4041648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নোটিফিকেশন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8339328" y="470916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সিস্টেম স্বয়ংক্রিয় সতর্কতা দেখায়। বিলম্ব, মেয়াদ ও নতুন বইয়ের বিজ্ঞপ্তি।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11064240" y="644652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46304"/>
            <a:ext cx="2377440" cy="347472"/>
          </a:xfrm>
          <a:prstGeom prst="roundRect">
            <a:avLst>
              <a:gd name="adj" fmla="val 31579"/>
            </a:avLst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182880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বিশেষ ডিজাইন ফিচার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ওয়েবসাইটের অনন্য বৈশিষ্ট্যসমূহ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389888"/>
            <a:ext cx="3611880" cy="1600200"/>
          </a:xfrm>
          <a:prstGeom prst="roundRect">
            <a:avLst>
              <a:gd name="adj" fmla="val 6857"/>
            </a:avLst>
          </a:prstGeom>
          <a:solidFill>
            <a:srgbClr val="162838"/>
          </a:solidFill>
          <a:ln w="12700">
            <a:solidFill>
              <a:srgbClr val="16283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30352" y="1645920"/>
            <a:ext cx="530352" cy="530352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64592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🌙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1572768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/ Light Mode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88720" y="1956816"/>
            <a:ext cx="26700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একটি বাটনে ক্লিক — ডার্ক ও লাইট মোড পরিবর্তন। CSS Variables দিয়ে তৈরি।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251960" y="1389888"/>
            <a:ext cx="3611880" cy="1600200"/>
          </a:xfrm>
          <a:prstGeom prst="roundRect">
            <a:avLst>
              <a:gd name="adj" fmla="val 6857"/>
            </a:avLst>
          </a:prstGeom>
          <a:solidFill>
            <a:srgbClr val="162838"/>
          </a:solidFill>
          <a:ln w="12700">
            <a:solidFill>
              <a:srgbClr val="16283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16552" y="1645920"/>
            <a:ext cx="530352" cy="53035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16552" y="164592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074920" y="1572768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Design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74920" y="1956816"/>
            <a:ext cx="26700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মোবাইল, ট্যাবলেট ও ডেস্কটপ — সব ডিভাইসে সুন্দর।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138160" y="1389888"/>
            <a:ext cx="3611880" cy="1600200"/>
          </a:xfrm>
          <a:prstGeom prst="roundRect">
            <a:avLst>
              <a:gd name="adj" fmla="val 6857"/>
            </a:avLst>
          </a:prstGeom>
          <a:solidFill>
            <a:srgbClr val="162838"/>
          </a:solidFill>
          <a:ln w="12700">
            <a:solidFill>
              <a:srgbClr val="16283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02752" y="1645920"/>
            <a:ext cx="530352" cy="530352"/>
          </a:xfrm>
          <a:prstGeom prst="ellipse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02752" y="164592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961120" y="1572768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Variables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961120" y="1956816"/>
            <a:ext cx="26700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সম্পূর্ণ রঙ প্যালেট :root ভেরিয়েবলে। এক জায়গায় বদলালে সব বদলে যায়।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3127248"/>
            <a:ext cx="3611880" cy="1600200"/>
          </a:xfrm>
          <a:prstGeom prst="roundRect">
            <a:avLst>
              <a:gd name="adj" fmla="val 6857"/>
            </a:avLst>
          </a:prstGeom>
          <a:solidFill>
            <a:srgbClr val="162838"/>
          </a:solidFill>
          <a:ln w="12700">
            <a:solidFill>
              <a:srgbClr val="16283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30352" y="3383280"/>
            <a:ext cx="530352" cy="530352"/>
          </a:xfrm>
          <a:prstGeom prst="ellipse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" y="338328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88720" y="3310128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Animations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88720" y="3694176"/>
            <a:ext cx="26700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fadeUp, modalIn সহ হোভার ইফেক্ট ও ট্রানজিশন। মসৃণ অভিজ্ঞতা।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251960" y="3127248"/>
            <a:ext cx="3611880" cy="1600200"/>
          </a:xfrm>
          <a:prstGeom prst="roundRect">
            <a:avLst>
              <a:gd name="adj" fmla="val 6857"/>
            </a:avLst>
          </a:prstGeom>
          <a:solidFill>
            <a:srgbClr val="162838"/>
          </a:solidFill>
          <a:ln w="12700">
            <a:solidFill>
              <a:srgbClr val="16283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416552" y="3383280"/>
            <a:ext cx="530352" cy="530352"/>
          </a:xfrm>
          <a:prstGeom prst="ellipse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16552" y="338328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074920" y="3310128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Toast Notification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074920" y="3694176"/>
            <a:ext cx="26700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প্রতিটি অ্যাকশনে toast message। সাফল্য, ত্রুটি আলাদা রঙে।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8138160" y="3127248"/>
            <a:ext cx="3611880" cy="1600200"/>
          </a:xfrm>
          <a:prstGeom prst="roundRect">
            <a:avLst>
              <a:gd name="adj" fmla="val 6857"/>
            </a:avLst>
          </a:prstGeom>
          <a:solidFill>
            <a:srgbClr val="162838"/>
          </a:solidFill>
          <a:ln w="12700">
            <a:solidFill>
              <a:srgbClr val="16283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302752" y="3383280"/>
            <a:ext cx="530352" cy="53035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02752" y="338328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961120" y="3310128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দ্বৈত লগইন সিস্টেম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961120" y="3694176"/>
            <a:ext cx="26700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ও Student আলাদা ড্যাশবোর্ড। Modal popup লগইন।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65760" y="4864608"/>
            <a:ext cx="3611880" cy="1600200"/>
          </a:xfrm>
          <a:prstGeom prst="roundRect">
            <a:avLst>
              <a:gd name="adj" fmla="val 6857"/>
            </a:avLst>
          </a:prstGeom>
          <a:solidFill>
            <a:srgbClr val="162838"/>
          </a:solidFill>
          <a:ln w="12700">
            <a:solidFill>
              <a:srgbClr val="16283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30352" y="5120640"/>
            <a:ext cx="530352" cy="530352"/>
          </a:xfrm>
          <a:prstGeom prst="ellipse">
            <a:avLst/>
          </a:prstGeom>
          <a:solidFill>
            <a:srgbClr val="215732"/>
          </a:solidFill>
          <a:ln w="12700">
            <a:solidFill>
              <a:srgbClr val="21573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0352" y="512064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188720" y="5047488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সার্চ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188720" y="5431536"/>
            <a:ext cx="26700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বই সার্চ করলে সাথে সাথে রেজাল্ট ফিল্টার হয়। oninput ইভেন্ট।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251960" y="4864608"/>
            <a:ext cx="3611880" cy="1600200"/>
          </a:xfrm>
          <a:prstGeom prst="roundRect">
            <a:avLst>
              <a:gd name="adj" fmla="val 6857"/>
            </a:avLst>
          </a:prstGeom>
          <a:solidFill>
            <a:srgbClr val="162838"/>
          </a:solidFill>
          <a:ln w="12700">
            <a:solidFill>
              <a:srgbClr val="16283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416552" y="5120640"/>
            <a:ext cx="530352" cy="530352"/>
          </a:xfrm>
          <a:prstGeom prst="ellipse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416552" y="512064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5074920" y="5047488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 Calculator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074920" y="5431536"/>
            <a:ext cx="26700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বিলম্বিত দিন ইনপুট করলে সাথে সাথে ফাইন হিসাব। Live calculation।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8138160" y="4864608"/>
            <a:ext cx="3611880" cy="1600200"/>
          </a:xfrm>
          <a:prstGeom prst="roundRect">
            <a:avLst>
              <a:gd name="adj" fmla="val 6857"/>
            </a:avLst>
          </a:prstGeom>
          <a:solidFill>
            <a:srgbClr val="162838"/>
          </a:solidFill>
          <a:ln w="12700">
            <a:solidFill>
              <a:srgbClr val="16283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8302752" y="5120640"/>
            <a:ext cx="530352" cy="530352"/>
          </a:xfrm>
          <a:prstGeom prst="ellipse">
            <a:avLst/>
          </a:prstGeom>
          <a:solidFill>
            <a:srgbClr val="8A9BB0"/>
          </a:solidFill>
          <a:ln w="12700">
            <a:solidFill>
              <a:srgbClr val="8A9BB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302752" y="512064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8961120" y="5047488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Charts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8961120" y="5431536"/>
            <a:ext cx="26700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লাইব্রেরি ছাড়াই শুধু CSS দিয়ে বার ও ডোনাট চার্ট।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11064240" y="644652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772400" cy="6858000"/>
          </a:xfrm>
          <a:prstGeom prst="rect">
            <a:avLst/>
          </a:prstGeom>
          <a:solidFill>
            <a:srgbClr val="0D2235"/>
          </a:solidFill>
          <a:ln w="12700">
            <a:solidFill>
              <a:srgbClr val="0D22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0"/>
            <a:ext cx="4389120" cy="6858000"/>
          </a:xfrm>
          <a:prstGeom prst="rect">
            <a:avLst/>
          </a:prstGeom>
          <a:solidFill>
            <a:srgbClr val="0A1822"/>
          </a:solidFill>
          <a:ln w="12700">
            <a:solidFill>
              <a:srgbClr val="0A182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0"/>
            <a:ext cx="4389120" cy="73152"/>
          </a:xfrm>
          <a:prstGeom prst="rect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84048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সারসংক্ষেপ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প্রজেক্টের মূল অর্জন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72768"/>
            <a:ext cx="6949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সম্পূর্ণ Frontend Library Management System তৈরি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084832"/>
            <a:ext cx="6949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0E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Admin ও Student — দুটি আলাদা ড্যাশবোর্ড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596896"/>
            <a:ext cx="6949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বই ইস্যু, রিটার্ন ও ফাইন ক্যালকুলেটর কার্যকর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108960"/>
            <a:ext cx="6949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0E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Dark/Light Mode, Responsive, CSS Animations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3621024"/>
            <a:ext cx="6949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Real-time সার্চ ও ফিল্টার সিস্টেম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4133088"/>
            <a:ext cx="6949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0E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সম্পূর্ণ বাংলা ভাষায় UI — মোট ৬টি পেজ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4892040"/>
            <a:ext cx="7040880" cy="1481328"/>
          </a:xfrm>
          <a:prstGeom prst="roundRect">
            <a:avLst>
              <a:gd name="adj" fmla="val 7407"/>
            </a:avLst>
          </a:prstGeom>
          <a:solidFill>
            <a:srgbClr val="162838"/>
          </a:solidFill>
          <a:ln w="12700">
            <a:solidFill>
              <a:srgbClr val="16283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" y="4956048"/>
            <a:ext cx="6583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ভবিষ্যৎ উন্নয়ন পরিকল্পনা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5349240"/>
            <a:ext cx="6675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PHP/Node.js Backend  •  MySQL Database  •  Email Notification  •  QR Code  •  PDF Export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0080" y="5724144"/>
            <a:ext cx="6675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Pages এ Deploy — সবার সাথে শেয়ার করা যাচ্ছে বিনামূল্যে।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138160" y="731520"/>
            <a:ext cx="3474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🏛️</a:t>
            </a:r>
            <a:endParaRPr lang="en-US" sz="8000" dirty="0"/>
          </a:p>
        </p:txBody>
      </p:sp>
      <p:sp>
        <p:nvSpPr>
          <p:cNvPr id="18" name="Text 16"/>
          <p:cNvSpPr/>
          <p:nvPr/>
        </p:nvSpPr>
        <p:spPr>
          <a:xfrm>
            <a:off x="7955280" y="272491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B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গ্রন্থাগার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955280" y="325526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Management System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955280" y="3749040"/>
            <a:ext cx="1627632" cy="868680"/>
          </a:xfrm>
          <a:prstGeom prst="roundRect">
            <a:avLst>
              <a:gd name="adj" fmla="val 12632"/>
            </a:avLst>
          </a:prstGeom>
          <a:solidFill>
            <a:srgbClr val="162838"/>
          </a:solidFill>
          <a:ln w="12700">
            <a:solidFill>
              <a:srgbClr val="16283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046720" y="3794760"/>
            <a:ext cx="1444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B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১,২৪৮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8046720" y="4261104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বই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9765792" y="3749040"/>
            <a:ext cx="1627632" cy="868680"/>
          </a:xfrm>
          <a:prstGeom prst="roundRect">
            <a:avLst>
              <a:gd name="adj" fmla="val 12632"/>
            </a:avLst>
          </a:prstGeom>
          <a:solidFill>
            <a:srgbClr val="162838"/>
          </a:solidFill>
          <a:ln w="12700">
            <a:solidFill>
              <a:srgbClr val="16283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857232" y="3794760"/>
            <a:ext cx="1444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B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৩৪২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857232" y="4261104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ছাত্র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955280" y="4773168"/>
            <a:ext cx="1627632" cy="868680"/>
          </a:xfrm>
          <a:prstGeom prst="roundRect">
            <a:avLst>
              <a:gd name="adj" fmla="val 12632"/>
            </a:avLst>
          </a:prstGeom>
          <a:solidFill>
            <a:srgbClr val="162838"/>
          </a:solidFill>
          <a:ln w="12700">
            <a:solidFill>
              <a:srgbClr val="16283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046720" y="4818888"/>
            <a:ext cx="1444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B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৬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8046720" y="5285232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পেজ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9765792" y="4773168"/>
            <a:ext cx="1627632" cy="868680"/>
          </a:xfrm>
          <a:prstGeom prst="roundRect">
            <a:avLst>
              <a:gd name="adj" fmla="val 12632"/>
            </a:avLst>
          </a:prstGeom>
          <a:solidFill>
            <a:srgbClr val="162838"/>
          </a:solidFill>
          <a:ln w="12700">
            <a:solidFill>
              <a:srgbClr val="16283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9857232" y="4818888"/>
            <a:ext cx="1444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B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১৫+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9857232" y="5285232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ফিচার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57200" y="641908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ধন্যবাদ  🙏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11064240" y="644652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Library Management System — প্রজেক্ট প্রেজেন্টেশন</dc:title>
  <dc:subject>PptxGenJS Presentation</dc:subject>
  <dc:creator>গ্রন্থাগার</dc:creator>
  <cp:lastModifiedBy>গ্রন্থাগার</cp:lastModifiedBy>
  <cp:revision>1</cp:revision>
  <dcterms:created xsi:type="dcterms:W3CDTF">2026-07-04T16:11:41Z</dcterms:created>
  <dcterms:modified xsi:type="dcterms:W3CDTF">2026-07-04T16:11:41Z</dcterms:modified>
</cp:coreProperties>
</file>